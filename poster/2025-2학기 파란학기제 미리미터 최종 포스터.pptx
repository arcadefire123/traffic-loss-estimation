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3"/>
  </p:notesMasterIdLst>
  <p:sldIdLst>
    <p:sldId id="257"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59A"/>
    <a:srgbClr val="0A81E5"/>
    <a:srgbClr val="2D2C79"/>
    <a:srgbClr val="EAB120"/>
    <a:srgbClr val="FEEC91"/>
    <a:srgbClr val="2B6CB5"/>
    <a:srgbClr val="9AD0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16" autoAdjust="0"/>
    <p:restoredTop sz="94660"/>
  </p:normalViewPr>
  <p:slideViewPr>
    <p:cSldViewPr snapToGrid="0" showGuides="1">
      <p:cViewPr>
        <p:scale>
          <a:sx n="50" d="100"/>
          <a:sy n="50" d="100"/>
        </p:scale>
        <p:origin x="-1770" y="-8121"/>
      </p:cViewPr>
      <p:guideLst>
        <p:guide orient="horz" pos="13482"/>
        <p:guide pos="9536"/>
      </p:guideLst>
    </p:cSldViewPr>
  </p:slideViewPr>
  <p:notesTextViewPr>
    <p:cViewPr>
      <p:scale>
        <a:sx n="1" d="1"/>
        <a:sy n="1" d="1"/>
      </p:scale>
      <p:origin x="0" y="0"/>
    </p:cViewPr>
  </p:notesTextViewPr>
  <p:notesViewPr>
    <p:cSldViewPr snapToGrid="0" showGuides="1">
      <p:cViewPr>
        <p:scale>
          <a:sx n="125" d="100"/>
          <a:sy n="125" d="100"/>
        </p:scale>
        <p:origin x="2928" y="-114"/>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7F669A-3BD9-4783-A349-EFFE06E52642}" type="datetimeFigureOut">
              <a:rPr lang="ko-KR" altLang="en-US" smtClean="0"/>
              <a:t>2026-08-28</a:t>
            </a:fld>
            <a:endParaRPr lang="ko-KR" altLang="en-US"/>
          </a:p>
        </p:txBody>
      </p:sp>
      <p:sp>
        <p:nvSpPr>
          <p:cNvPr id="4" name="슬라이드 이미지 개체 틀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11D3C9-5174-4673-8318-BA8D321A3E44}" type="slidenum">
              <a:rPr lang="ko-KR" altLang="en-US" smtClean="0"/>
              <a:t>‹#›</a:t>
            </a:fld>
            <a:endParaRPr lang="ko-KR" altLang="en-US"/>
          </a:p>
        </p:txBody>
      </p:sp>
    </p:spTree>
    <p:extLst>
      <p:ext uri="{BB962C8B-B14F-4D97-AF65-F5344CB8AC3E}">
        <p14:creationId xmlns:p14="http://schemas.microsoft.com/office/powerpoint/2010/main" val="3886767043"/>
      </p:ext>
    </p:extLst>
  </p:cSld>
  <p:clrMap bg1="lt1" tx1="dk1" bg2="lt2" tx2="dk2" accent1="accent1" accent2="accent2" accent3="accent3" accent4="accent4" accent5="accent5" accent6="accent6" hlink="hlink" folHlink="folHlink"/>
  <p:notesStyle>
    <a:lvl1pPr marL="0" algn="l" defTabSz="783184" rtl="0" eaLnBrk="1" latinLnBrk="1" hangingPunct="1">
      <a:defRPr sz="1028" kern="1200">
        <a:solidFill>
          <a:schemeClr val="tx1"/>
        </a:solidFill>
        <a:latin typeface="+mn-lt"/>
        <a:ea typeface="+mn-ea"/>
        <a:cs typeface="+mn-cs"/>
      </a:defRPr>
    </a:lvl1pPr>
    <a:lvl2pPr marL="391592" algn="l" defTabSz="783184" rtl="0" eaLnBrk="1" latinLnBrk="1" hangingPunct="1">
      <a:defRPr sz="1028" kern="1200">
        <a:solidFill>
          <a:schemeClr val="tx1"/>
        </a:solidFill>
        <a:latin typeface="+mn-lt"/>
        <a:ea typeface="+mn-ea"/>
        <a:cs typeface="+mn-cs"/>
      </a:defRPr>
    </a:lvl2pPr>
    <a:lvl3pPr marL="783184" algn="l" defTabSz="783184" rtl="0" eaLnBrk="1" latinLnBrk="1" hangingPunct="1">
      <a:defRPr sz="1028" kern="1200">
        <a:solidFill>
          <a:schemeClr val="tx1"/>
        </a:solidFill>
        <a:latin typeface="+mn-lt"/>
        <a:ea typeface="+mn-ea"/>
        <a:cs typeface="+mn-cs"/>
      </a:defRPr>
    </a:lvl3pPr>
    <a:lvl4pPr marL="1174775" algn="l" defTabSz="783184" rtl="0" eaLnBrk="1" latinLnBrk="1" hangingPunct="1">
      <a:defRPr sz="1028" kern="1200">
        <a:solidFill>
          <a:schemeClr val="tx1"/>
        </a:solidFill>
        <a:latin typeface="+mn-lt"/>
        <a:ea typeface="+mn-ea"/>
        <a:cs typeface="+mn-cs"/>
      </a:defRPr>
    </a:lvl4pPr>
    <a:lvl5pPr marL="1566367" algn="l" defTabSz="783184" rtl="0" eaLnBrk="1" latinLnBrk="1" hangingPunct="1">
      <a:defRPr sz="1028" kern="1200">
        <a:solidFill>
          <a:schemeClr val="tx1"/>
        </a:solidFill>
        <a:latin typeface="+mn-lt"/>
        <a:ea typeface="+mn-ea"/>
        <a:cs typeface="+mn-cs"/>
      </a:defRPr>
    </a:lvl5pPr>
    <a:lvl6pPr marL="1957959" algn="l" defTabSz="783184" rtl="0" eaLnBrk="1" latinLnBrk="1" hangingPunct="1">
      <a:defRPr sz="1028" kern="1200">
        <a:solidFill>
          <a:schemeClr val="tx1"/>
        </a:solidFill>
        <a:latin typeface="+mn-lt"/>
        <a:ea typeface="+mn-ea"/>
        <a:cs typeface="+mn-cs"/>
      </a:defRPr>
    </a:lvl6pPr>
    <a:lvl7pPr marL="2349551" algn="l" defTabSz="783184" rtl="0" eaLnBrk="1" latinLnBrk="1" hangingPunct="1">
      <a:defRPr sz="1028" kern="1200">
        <a:solidFill>
          <a:schemeClr val="tx1"/>
        </a:solidFill>
        <a:latin typeface="+mn-lt"/>
        <a:ea typeface="+mn-ea"/>
        <a:cs typeface="+mn-cs"/>
      </a:defRPr>
    </a:lvl7pPr>
    <a:lvl8pPr marL="2741143" algn="l" defTabSz="783184" rtl="0" eaLnBrk="1" latinLnBrk="1" hangingPunct="1">
      <a:defRPr sz="1028" kern="1200">
        <a:solidFill>
          <a:schemeClr val="tx1"/>
        </a:solidFill>
        <a:latin typeface="+mn-lt"/>
        <a:ea typeface="+mn-ea"/>
        <a:cs typeface="+mn-cs"/>
      </a:defRPr>
    </a:lvl8pPr>
    <a:lvl9pPr marL="3132734" algn="l" defTabSz="783184" rtl="0" eaLnBrk="1" latinLnBrk="1" hangingPunct="1">
      <a:defRPr sz="1028"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a:prstGeom prst="rect">
            <a:avLst/>
          </a:prstGeom>
        </p:spPr>
        <p:txBody>
          <a:bodyPr anchor="b"/>
          <a:lstStyle>
            <a:lvl1pPr algn="ctr">
              <a:defRPr sz="19865"/>
            </a:lvl1pPr>
          </a:lstStyle>
          <a:p>
            <a:r>
              <a:rPr lang="ko-KR" altLang="en-US"/>
              <a:t>마스터 제목 스타일 편집</a:t>
            </a:r>
            <a:endParaRPr lang="en-US" dirty="0"/>
          </a:p>
        </p:txBody>
      </p:sp>
      <p:sp>
        <p:nvSpPr>
          <p:cNvPr id="3" name="Subtitle 2"/>
          <p:cNvSpPr>
            <a:spLocks noGrp="1"/>
          </p:cNvSpPr>
          <p:nvPr>
            <p:ph type="subTitle" idx="1"/>
          </p:nvPr>
        </p:nvSpPr>
        <p:spPr>
          <a:xfrm>
            <a:off x="3784402" y="22481887"/>
            <a:ext cx="22706410" cy="10334331"/>
          </a:xfrm>
          <a:prstGeom prst="rect">
            <a:avLst/>
          </a:prstGeo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a:xfrm>
            <a:off x="2081421" y="39672756"/>
            <a:ext cx="6811923" cy="2278904"/>
          </a:xfrm>
          <a:prstGeom prst="rect">
            <a:avLst/>
          </a:prstGeom>
        </p:spPr>
        <p:txBody>
          <a:bodyPr/>
          <a:lstStyle/>
          <a:p>
            <a:fld id="{E30B06E9-DB82-4C5F-B0C3-92446C0E5D0E}" type="datetimeFigureOut">
              <a:rPr lang="ko-KR" altLang="en-US" smtClean="0"/>
              <a:t>2026-08-28</a:t>
            </a:fld>
            <a:endParaRPr lang="ko-KR" altLang="en-US"/>
          </a:p>
        </p:txBody>
      </p:sp>
      <p:sp>
        <p:nvSpPr>
          <p:cNvPr id="5" name="Footer Placeholder 4"/>
          <p:cNvSpPr>
            <a:spLocks noGrp="1"/>
          </p:cNvSpPr>
          <p:nvPr>
            <p:ph type="ftr" sz="quarter" idx="11"/>
          </p:nvPr>
        </p:nvSpPr>
        <p:spPr>
          <a:xfrm>
            <a:off x="10028665" y="39672756"/>
            <a:ext cx="10217884" cy="2278904"/>
          </a:xfrm>
          <a:prstGeom prst="rect">
            <a:avLst/>
          </a:prstGeom>
        </p:spPr>
        <p:txBody>
          <a:bodyPr/>
          <a:lstStyle/>
          <a:p>
            <a:endParaRPr lang="ko-KR" altLang="en-US"/>
          </a:p>
        </p:txBody>
      </p:sp>
      <p:sp>
        <p:nvSpPr>
          <p:cNvPr id="6" name="Slide Number Placeholder 5"/>
          <p:cNvSpPr>
            <a:spLocks noGrp="1"/>
          </p:cNvSpPr>
          <p:nvPr>
            <p:ph type="sldNum" sz="quarter" idx="12"/>
          </p:nvPr>
        </p:nvSpPr>
        <p:spPr>
          <a:xfrm>
            <a:off x="21381869" y="39672756"/>
            <a:ext cx="6811923" cy="2278904"/>
          </a:xfrm>
          <a:prstGeom prst="rect">
            <a:avLst/>
          </a:prstGeom>
        </p:spPr>
        <p:txBody>
          <a:bodyPr/>
          <a:lstStyle/>
          <a:p>
            <a:fld id="{DD92996F-0FC2-43F6-BB50-C01638A8E4B9}" type="slidenum">
              <a:rPr lang="ko-KR" altLang="en-US" smtClean="0"/>
              <a:t>‹#›</a:t>
            </a:fld>
            <a:endParaRPr lang="ko-KR" altLang="en-US"/>
          </a:p>
        </p:txBody>
      </p:sp>
    </p:spTree>
    <p:extLst>
      <p:ext uri="{BB962C8B-B14F-4D97-AF65-F5344CB8AC3E}">
        <p14:creationId xmlns:p14="http://schemas.microsoft.com/office/powerpoint/2010/main" val="16627076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51FA20E-E543-4BAB-9C87-2F02A7EDAAF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383"/>
            <a:ext cx="30275213" cy="42800996"/>
          </a:xfrm>
          <a:prstGeom prst="rect">
            <a:avLst/>
          </a:prstGeom>
        </p:spPr>
      </p:pic>
      <p:sp>
        <p:nvSpPr>
          <p:cNvPr id="9" name="사각형: 둥근 모서리 8">
            <a:extLst>
              <a:ext uri="{FF2B5EF4-FFF2-40B4-BE49-F238E27FC236}">
                <a16:creationId xmlns:a16="http://schemas.microsoft.com/office/drawing/2014/main" id="{5EA5F387-E6E5-4BB4-B42F-54D047921E71}"/>
              </a:ext>
            </a:extLst>
          </p:cNvPr>
          <p:cNvSpPr/>
          <p:nvPr userDrawn="1"/>
        </p:nvSpPr>
        <p:spPr>
          <a:xfrm>
            <a:off x="999726" y="5964228"/>
            <a:ext cx="28275762" cy="35286035"/>
          </a:xfrm>
          <a:prstGeom prst="roundRect">
            <a:avLst>
              <a:gd name="adj" fmla="val 217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91"/>
          </a:p>
        </p:txBody>
      </p:sp>
      <p:pic>
        <p:nvPicPr>
          <p:cNvPr id="23" name="그래픽 22">
            <a:extLst>
              <a:ext uri="{FF2B5EF4-FFF2-40B4-BE49-F238E27FC236}">
                <a16:creationId xmlns:a16="http://schemas.microsoft.com/office/drawing/2014/main" id="{4D9C5D9C-9B52-46C6-AC92-98D6D10EDAD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57606" y="41522323"/>
            <a:ext cx="7560000" cy="861137"/>
          </a:xfrm>
          <a:prstGeom prst="rect">
            <a:avLst/>
          </a:prstGeom>
        </p:spPr>
      </p:pic>
      <p:pic>
        <p:nvPicPr>
          <p:cNvPr id="10" name="그림 9">
            <a:extLst>
              <a:ext uri="{FF2B5EF4-FFF2-40B4-BE49-F238E27FC236}">
                <a16:creationId xmlns:a16="http://schemas.microsoft.com/office/drawing/2014/main" id="{0DC79DFC-2126-4F93-B85C-8713ECDCDDB4}"/>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29206" b="28256"/>
          <a:stretch/>
        </p:blipFill>
        <p:spPr>
          <a:xfrm>
            <a:off x="23302453" y="489517"/>
            <a:ext cx="5942836" cy="1405497"/>
          </a:xfrm>
          <a:prstGeom prst="rect">
            <a:avLst/>
          </a:prstGeom>
        </p:spPr>
      </p:pic>
      <p:pic>
        <p:nvPicPr>
          <p:cNvPr id="2" name="그래픽 1">
            <a:extLst>
              <a:ext uri="{FF2B5EF4-FFF2-40B4-BE49-F238E27FC236}">
                <a16:creationId xmlns:a16="http://schemas.microsoft.com/office/drawing/2014/main" id="{8AB9EA3C-2DE2-4165-BEF8-976B425FD23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4316423" y="2494279"/>
            <a:ext cx="4959065" cy="2755036"/>
          </a:xfrm>
          <a:prstGeom prst="rect">
            <a:avLst/>
          </a:prstGeom>
        </p:spPr>
      </p:pic>
      <p:pic>
        <p:nvPicPr>
          <p:cNvPr id="5" name="그래픽 4">
            <a:extLst>
              <a:ext uri="{FF2B5EF4-FFF2-40B4-BE49-F238E27FC236}">
                <a16:creationId xmlns:a16="http://schemas.microsoft.com/office/drawing/2014/main" id="{0604316E-4B6F-493E-B667-DBDF5CF266FD}"/>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20868373" y="2147772"/>
            <a:ext cx="3448050" cy="3448050"/>
          </a:xfrm>
          <a:prstGeom prst="rect">
            <a:avLst/>
          </a:prstGeom>
        </p:spPr>
      </p:pic>
    </p:spTree>
    <p:extLst>
      <p:ext uri="{BB962C8B-B14F-4D97-AF65-F5344CB8AC3E}">
        <p14:creationId xmlns:p14="http://schemas.microsoft.com/office/powerpoint/2010/main" val="3571808487"/>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3027487" rtl="0" eaLnBrk="1" latinLnBrk="1"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1"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1"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1"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1" hangingPunct="1">
        <a:defRPr sz="5960" kern="1200">
          <a:solidFill>
            <a:schemeClr val="tx1"/>
          </a:solidFill>
          <a:latin typeface="+mn-lt"/>
          <a:ea typeface="+mn-ea"/>
          <a:cs typeface="+mn-cs"/>
        </a:defRPr>
      </a:lvl1pPr>
      <a:lvl2pPr marL="1513743" algn="l" defTabSz="3027487" rtl="0" eaLnBrk="1" latinLnBrk="1" hangingPunct="1">
        <a:defRPr sz="5960" kern="1200">
          <a:solidFill>
            <a:schemeClr val="tx1"/>
          </a:solidFill>
          <a:latin typeface="+mn-lt"/>
          <a:ea typeface="+mn-ea"/>
          <a:cs typeface="+mn-cs"/>
        </a:defRPr>
      </a:lvl2pPr>
      <a:lvl3pPr marL="3027487" algn="l" defTabSz="3027487" rtl="0" eaLnBrk="1" latinLnBrk="1" hangingPunct="1">
        <a:defRPr sz="5960" kern="1200">
          <a:solidFill>
            <a:schemeClr val="tx1"/>
          </a:solidFill>
          <a:latin typeface="+mn-lt"/>
          <a:ea typeface="+mn-ea"/>
          <a:cs typeface="+mn-cs"/>
        </a:defRPr>
      </a:lvl3pPr>
      <a:lvl4pPr marL="4541230" algn="l" defTabSz="3027487" rtl="0" eaLnBrk="1" latinLnBrk="1" hangingPunct="1">
        <a:defRPr sz="5960" kern="1200">
          <a:solidFill>
            <a:schemeClr val="tx1"/>
          </a:solidFill>
          <a:latin typeface="+mn-lt"/>
          <a:ea typeface="+mn-ea"/>
          <a:cs typeface="+mn-cs"/>
        </a:defRPr>
      </a:lvl4pPr>
      <a:lvl5pPr marL="6054974" algn="l" defTabSz="3027487" rtl="0" eaLnBrk="1" latinLnBrk="1" hangingPunct="1">
        <a:defRPr sz="5960" kern="1200">
          <a:solidFill>
            <a:schemeClr val="tx1"/>
          </a:solidFill>
          <a:latin typeface="+mn-lt"/>
          <a:ea typeface="+mn-ea"/>
          <a:cs typeface="+mn-cs"/>
        </a:defRPr>
      </a:lvl5pPr>
      <a:lvl6pPr marL="7568717" algn="l" defTabSz="3027487" rtl="0" eaLnBrk="1" latinLnBrk="1" hangingPunct="1">
        <a:defRPr sz="5960" kern="1200">
          <a:solidFill>
            <a:schemeClr val="tx1"/>
          </a:solidFill>
          <a:latin typeface="+mn-lt"/>
          <a:ea typeface="+mn-ea"/>
          <a:cs typeface="+mn-cs"/>
        </a:defRPr>
      </a:lvl6pPr>
      <a:lvl7pPr marL="9082461" algn="l" defTabSz="3027487" rtl="0" eaLnBrk="1" latinLnBrk="1" hangingPunct="1">
        <a:defRPr sz="5960" kern="1200">
          <a:solidFill>
            <a:schemeClr val="tx1"/>
          </a:solidFill>
          <a:latin typeface="+mn-lt"/>
          <a:ea typeface="+mn-ea"/>
          <a:cs typeface="+mn-cs"/>
        </a:defRPr>
      </a:lvl7pPr>
      <a:lvl8pPr marL="10596204" algn="l" defTabSz="3027487" rtl="0" eaLnBrk="1" latinLnBrk="1" hangingPunct="1">
        <a:defRPr sz="5960" kern="1200">
          <a:solidFill>
            <a:schemeClr val="tx1"/>
          </a:solidFill>
          <a:latin typeface="+mn-lt"/>
          <a:ea typeface="+mn-ea"/>
          <a:cs typeface="+mn-cs"/>
        </a:defRPr>
      </a:lvl8pPr>
      <a:lvl9pPr marL="12109948" algn="l" defTabSz="3027487" rtl="0" eaLnBrk="1" latinLnBrk="1"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사각형: 위쪽 모서리의 한쪽은 둥글고 다른 한쪽은 잘림 100">
            <a:extLst>
              <a:ext uri="{FF2B5EF4-FFF2-40B4-BE49-F238E27FC236}">
                <a16:creationId xmlns:a16="http://schemas.microsoft.com/office/drawing/2014/main" id="{6B853B63-27E6-BAFC-7934-E56F22B81F65}"/>
              </a:ext>
            </a:extLst>
          </p:cNvPr>
          <p:cNvSpPr/>
          <p:nvPr/>
        </p:nvSpPr>
        <p:spPr>
          <a:xfrm>
            <a:off x="21967823" y="36776612"/>
            <a:ext cx="4046677" cy="1014740"/>
          </a:xfrm>
          <a:prstGeom prst="snipRoundRect">
            <a:avLst>
              <a:gd name="adj1" fmla="val 16667"/>
              <a:gd name="adj2" fmla="val 5000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사각형: 둥근 모서리 101">
            <a:extLst>
              <a:ext uri="{FF2B5EF4-FFF2-40B4-BE49-F238E27FC236}">
                <a16:creationId xmlns:a16="http://schemas.microsoft.com/office/drawing/2014/main" id="{88C1DD50-F8DF-78A4-BFBD-A83D04CB1A7B}"/>
              </a:ext>
            </a:extLst>
          </p:cNvPr>
          <p:cNvSpPr/>
          <p:nvPr/>
        </p:nvSpPr>
        <p:spPr>
          <a:xfrm>
            <a:off x="21990445" y="37259667"/>
            <a:ext cx="7019324" cy="3787534"/>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9" name="사각형: 위쪽 모서리의 한쪽은 둥글고 다른 한쪽은 잘림 98">
            <a:extLst>
              <a:ext uri="{FF2B5EF4-FFF2-40B4-BE49-F238E27FC236}">
                <a16:creationId xmlns:a16="http://schemas.microsoft.com/office/drawing/2014/main" id="{D9D757F3-5F6B-C807-47C4-7943EA269402}"/>
              </a:ext>
            </a:extLst>
          </p:cNvPr>
          <p:cNvSpPr/>
          <p:nvPr/>
        </p:nvSpPr>
        <p:spPr>
          <a:xfrm>
            <a:off x="15050790" y="36807209"/>
            <a:ext cx="4046677" cy="1002928"/>
          </a:xfrm>
          <a:prstGeom prst="snipRoundRect">
            <a:avLst>
              <a:gd name="adj1" fmla="val 16667"/>
              <a:gd name="adj2" fmla="val 5000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0" name="사각형: 둥근 모서리 99">
            <a:extLst>
              <a:ext uri="{FF2B5EF4-FFF2-40B4-BE49-F238E27FC236}">
                <a16:creationId xmlns:a16="http://schemas.microsoft.com/office/drawing/2014/main" id="{E5230EA9-9EBD-78BD-8667-F8AB6CA175B1}"/>
              </a:ext>
            </a:extLst>
          </p:cNvPr>
          <p:cNvSpPr/>
          <p:nvPr/>
        </p:nvSpPr>
        <p:spPr>
          <a:xfrm>
            <a:off x="15027848" y="37269523"/>
            <a:ext cx="6717398" cy="3779697"/>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사각형: 위쪽 모서리의 한쪽은 둥글고 다른 한쪽은 잘림 60">
            <a:extLst>
              <a:ext uri="{FF2B5EF4-FFF2-40B4-BE49-F238E27FC236}">
                <a16:creationId xmlns:a16="http://schemas.microsoft.com/office/drawing/2014/main" id="{7EDBB213-F794-FA88-3E08-E911EFF303CE}"/>
              </a:ext>
            </a:extLst>
          </p:cNvPr>
          <p:cNvSpPr/>
          <p:nvPr/>
        </p:nvSpPr>
        <p:spPr>
          <a:xfrm>
            <a:off x="10375859" y="28950268"/>
            <a:ext cx="4038977" cy="646331"/>
          </a:xfrm>
          <a:prstGeom prst="snipRoundRect">
            <a:avLst>
              <a:gd name="adj1" fmla="val 16667"/>
              <a:gd name="adj2"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사각형: 위쪽 모서리의 한쪽은 둥글고 다른 한쪽은 잘림 59">
            <a:extLst>
              <a:ext uri="{FF2B5EF4-FFF2-40B4-BE49-F238E27FC236}">
                <a16:creationId xmlns:a16="http://schemas.microsoft.com/office/drawing/2014/main" id="{4D016C03-5EAE-CA8D-BBAE-B0F104E6DD1E}"/>
              </a:ext>
            </a:extLst>
          </p:cNvPr>
          <p:cNvSpPr/>
          <p:nvPr/>
        </p:nvSpPr>
        <p:spPr>
          <a:xfrm>
            <a:off x="5751341" y="28936019"/>
            <a:ext cx="4038977" cy="646331"/>
          </a:xfrm>
          <a:prstGeom prst="snipRoundRect">
            <a:avLst>
              <a:gd name="adj1" fmla="val 16667"/>
              <a:gd name="adj2"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9" name="사각형: 위쪽 모서리의 한쪽은 둥글고 다른 한쪽은 잘림 58">
            <a:extLst>
              <a:ext uri="{FF2B5EF4-FFF2-40B4-BE49-F238E27FC236}">
                <a16:creationId xmlns:a16="http://schemas.microsoft.com/office/drawing/2014/main" id="{1AB5A6B7-F63A-A809-ADDF-D1CE0A5C78A1}"/>
              </a:ext>
            </a:extLst>
          </p:cNvPr>
          <p:cNvSpPr/>
          <p:nvPr/>
        </p:nvSpPr>
        <p:spPr>
          <a:xfrm>
            <a:off x="1856455" y="28950268"/>
            <a:ext cx="3443097" cy="646331"/>
          </a:xfrm>
          <a:prstGeom prst="snipRoundRect">
            <a:avLst>
              <a:gd name="adj1" fmla="val 16667"/>
              <a:gd name="adj2"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8" name="그룹 27">
            <a:extLst>
              <a:ext uri="{FF2B5EF4-FFF2-40B4-BE49-F238E27FC236}">
                <a16:creationId xmlns:a16="http://schemas.microsoft.com/office/drawing/2014/main" id="{640180C7-B1A4-899B-7757-DA925379938F}"/>
              </a:ext>
            </a:extLst>
          </p:cNvPr>
          <p:cNvGrpSpPr/>
          <p:nvPr/>
        </p:nvGrpSpPr>
        <p:grpSpPr>
          <a:xfrm>
            <a:off x="1829681" y="15651787"/>
            <a:ext cx="11252732" cy="1927392"/>
            <a:chOff x="1863819" y="14940086"/>
            <a:chExt cx="12557031" cy="2613661"/>
          </a:xfrm>
        </p:grpSpPr>
        <p:sp>
          <p:nvSpPr>
            <p:cNvPr id="29" name="사각형: 위쪽 모서리의 한쪽은 둥글고 다른 한쪽은 잘림 28">
              <a:extLst>
                <a:ext uri="{FF2B5EF4-FFF2-40B4-BE49-F238E27FC236}">
                  <a16:creationId xmlns:a16="http://schemas.microsoft.com/office/drawing/2014/main" id="{A0ECE0D6-F1AE-54E9-724B-1989AAC73276}"/>
                </a:ext>
              </a:extLst>
            </p:cNvPr>
            <p:cNvSpPr/>
            <p:nvPr/>
          </p:nvSpPr>
          <p:spPr>
            <a:xfrm>
              <a:off x="1906708" y="14940086"/>
              <a:ext cx="5160842" cy="846071"/>
            </a:xfrm>
            <a:prstGeom prst="snipRoundRect">
              <a:avLst>
                <a:gd name="adj1" fmla="val 16667"/>
                <a:gd name="adj2" fmla="val 5000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0" name="사각형: 둥근 모서리 29">
              <a:extLst>
                <a:ext uri="{FF2B5EF4-FFF2-40B4-BE49-F238E27FC236}">
                  <a16:creationId xmlns:a16="http://schemas.microsoft.com/office/drawing/2014/main" id="{E43D61BE-A229-A90F-8AC3-FD12BDB10CE2}"/>
                </a:ext>
              </a:extLst>
            </p:cNvPr>
            <p:cNvSpPr/>
            <p:nvPr/>
          </p:nvSpPr>
          <p:spPr>
            <a:xfrm>
              <a:off x="1863819" y="15652045"/>
              <a:ext cx="12557031" cy="1901702"/>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5" name="그룹 24">
            <a:extLst>
              <a:ext uri="{FF2B5EF4-FFF2-40B4-BE49-F238E27FC236}">
                <a16:creationId xmlns:a16="http://schemas.microsoft.com/office/drawing/2014/main" id="{14050F51-D60A-D1D3-0859-928BAE6F0B37}"/>
              </a:ext>
            </a:extLst>
          </p:cNvPr>
          <p:cNvGrpSpPr/>
          <p:nvPr/>
        </p:nvGrpSpPr>
        <p:grpSpPr>
          <a:xfrm>
            <a:off x="1776992" y="13544530"/>
            <a:ext cx="11241402" cy="1953171"/>
            <a:chOff x="1863819" y="14887954"/>
            <a:chExt cx="12557031" cy="2665793"/>
          </a:xfrm>
        </p:grpSpPr>
        <p:sp>
          <p:nvSpPr>
            <p:cNvPr id="26" name="사각형: 위쪽 모서리의 한쪽은 둥글고 다른 한쪽은 잘림 25">
              <a:extLst>
                <a:ext uri="{FF2B5EF4-FFF2-40B4-BE49-F238E27FC236}">
                  <a16:creationId xmlns:a16="http://schemas.microsoft.com/office/drawing/2014/main" id="{CAB8907E-0D75-B774-88AE-307ECEF73F54}"/>
                </a:ext>
              </a:extLst>
            </p:cNvPr>
            <p:cNvSpPr/>
            <p:nvPr/>
          </p:nvSpPr>
          <p:spPr>
            <a:xfrm>
              <a:off x="1906708" y="14887954"/>
              <a:ext cx="5160842" cy="898203"/>
            </a:xfrm>
            <a:prstGeom prst="snipRoundRect">
              <a:avLst>
                <a:gd name="adj1" fmla="val 16667"/>
                <a:gd name="adj2" fmla="val 5000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7" name="사각형: 둥근 모서리 26">
              <a:extLst>
                <a:ext uri="{FF2B5EF4-FFF2-40B4-BE49-F238E27FC236}">
                  <a16:creationId xmlns:a16="http://schemas.microsoft.com/office/drawing/2014/main" id="{C1102840-51E0-D4D6-D00E-6DB19091F61B}"/>
                </a:ext>
              </a:extLst>
            </p:cNvPr>
            <p:cNvSpPr/>
            <p:nvPr/>
          </p:nvSpPr>
          <p:spPr>
            <a:xfrm>
              <a:off x="1863819" y="15652045"/>
              <a:ext cx="12557031" cy="1901702"/>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4" name="그룹 23">
            <a:extLst>
              <a:ext uri="{FF2B5EF4-FFF2-40B4-BE49-F238E27FC236}">
                <a16:creationId xmlns:a16="http://schemas.microsoft.com/office/drawing/2014/main" id="{B1F0F37B-3047-33D5-CA93-9FA48EF89CE6}"/>
              </a:ext>
            </a:extLst>
          </p:cNvPr>
          <p:cNvGrpSpPr/>
          <p:nvPr/>
        </p:nvGrpSpPr>
        <p:grpSpPr>
          <a:xfrm>
            <a:off x="1791286" y="11311812"/>
            <a:ext cx="11252732" cy="2033670"/>
            <a:chOff x="1863819" y="14939327"/>
            <a:chExt cx="12557031" cy="2614420"/>
          </a:xfrm>
        </p:grpSpPr>
        <p:sp>
          <p:nvSpPr>
            <p:cNvPr id="22" name="사각형: 위쪽 모서리의 한쪽은 둥글고 다른 한쪽은 잘림 21">
              <a:extLst>
                <a:ext uri="{FF2B5EF4-FFF2-40B4-BE49-F238E27FC236}">
                  <a16:creationId xmlns:a16="http://schemas.microsoft.com/office/drawing/2014/main" id="{805684C6-62EB-464C-90C4-08DF9BBD0438}"/>
                </a:ext>
              </a:extLst>
            </p:cNvPr>
            <p:cNvSpPr/>
            <p:nvPr/>
          </p:nvSpPr>
          <p:spPr>
            <a:xfrm>
              <a:off x="1906708" y="14939327"/>
              <a:ext cx="5160842" cy="846832"/>
            </a:xfrm>
            <a:prstGeom prst="snipRoundRect">
              <a:avLst>
                <a:gd name="adj1" fmla="val 16667"/>
                <a:gd name="adj2" fmla="val 5000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사각형: 둥근 모서리 18">
              <a:extLst>
                <a:ext uri="{FF2B5EF4-FFF2-40B4-BE49-F238E27FC236}">
                  <a16:creationId xmlns:a16="http://schemas.microsoft.com/office/drawing/2014/main" id="{9A4EF256-BB55-EDE7-0920-41E4DAC25FA3}"/>
                </a:ext>
              </a:extLst>
            </p:cNvPr>
            <p:cNvSpPr/>
            <p:nvPr/>
          </p:nvSpPr>
          <p:spPr>
            <a:xfrm>
              <a:off x="1863819" y="15652045"/>
              <a:ext cx="12557031" cy="1901702"/>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 name="TextBox 3">
            <a:extLst>
              <a:ext uri="{FF2B5EF4-FFF2-40B4-BE49-F238E27FC236}">
                <a16:creationId xmlns:a16="http://schemas.microsoft.com/office/drawing/2014/main" id="{63A8CE53-3A79-49F2-85C0-DFDA2F379BF0}"/>
              </a:ext>
            </a:extLst>
          </p:cNvPr>
          <p:cNvSpPr txBox="1"/>
          <p:nvPr/>
        </p:nvSpPr>
        <p:spPr>
          <a:xfrm>
            <a:off x="1562740" y="1088162"/>
            <a:ext cx="17120339" cy="1862048"/>
          </a:xfrm>
          <a:prstGeom prst="rect">
            <a:avLst/>
          </a:prstGeom>
          <a:noFill/>
        </p:spPr>
        <p:txBody>
          <a:bodyPr wrap="square" rtlCol="0">
            <a:spAutoFit/>
          </a:bodyPr>
          <a:lstStyle/>
          <a:p>
            <a:r>
              <a:rPr lang="ko-KR" altLang="en-US" sz="11500" dirty="0" err="1">
                <a:solidFill>
                  <a:schemeClr val="accent4">
                    <a:lumMod val="60000"/>
                    <a:lumOff val="40000"/>
                  </a:schemeClr>
                </a:solidFill>
                <a:latin typeface="페이퍼로지 9 Black" pitchFamily="2" charset="-127"/>
                <a:ea typeface="페이퍼로지 9 Black" pitchFamily="2" charset="-127"/>
              </a:rPr>
              <a:t>미리미터</a:t>
            </a:r>
            <a:endParaRPr lang="ko-KR" altLang="en-US" sz="11500" dirty="0">
              <a:solidFill>
                <a:schemeClr val="accent4">
                  <a:lumMod val="60000"/>
                  <a:lumOff val="40000"/>
                </a:schemeClr>
              </a:solidFill>
              <a:latin typeface="페이퍼로지 9 Black" pitchFamily="2" charset="-127"/>
              <a:ea typeface="페이퍼로지 9 Black" pitchFamily="2" charset="-127"/>
            </a:endParaRPr>
          </a:p>
        </p:txBody>
      </p:sp>
      <p:sp>
        <p:nvSpPr>
          <p:cNvPr id="5" name="TextBox 4">
            <a:extLst>
              <a:ext uri="{FF2B5EF4-FFF2-40B4-BE49-F238E27FC236}">
                <a16:creationId xmlns:a16="http://schemas.microsoft.com/office/drawing/2014/main" id="{32EF3F23-C8CB-44E8-AC71-D9E404D52718}"/>
              </a:ext>
            </a:extLst>
          </p:cNvPr>
          <p:cNvSpPr txBox="1"/>
          <p:nvPr/>
        </p:nvSpPr>
        <p:spPr>
          <a:xfrm>
            <a:off x="1562740" y="2848740"/>
            <a:ext cx="19506560" cy="1754326"/>
          </a:xfrm>
          <a:prstGeom prst="rect">
            <a:avLst/>
          </a:prstGeom>
          <a:noFill/>
        </p:spPr>
        <p:txBody>
          <a:bodyPr wrap="square" rtlCol="0">
            <a:spAutoFit/>
          </a:bodyPr>
          <a:lstStyle/>
          <a:p>
            <a:r>
              <a:rPr lang="ko-KR" altLang="en-US" sz="5400" dirty="0">
                <a:solidFill>
                  <a:schemeClr val="bg1"/>
                </a:solidFill>
                <a:latin typeface="페이퍼로지 7 Bold" pitchFamily="2" charset="-127"/>
                <a:ea typeface="페이퍼로지 7 Bold" pitchFamily="2" charset="-127"/>
              </a:rPr>
              <a:t>센서 없는 구간의 교통량을 역산 추정하는 </a:t>
            </a:r>
            <a:endParaRPr lang="en-US" altLang="ko-KR" sz="5400" dirty="0">
              <a:solidFill>
                <a:schemeClr val="bg1"/>
              </a:solidFill>
              <a:latin typeface="페이퍼로지 7 Bold" pitchFamily="2" charset="-127"/>
              <a:ea typeface="페이퍼로지 7 Bold" pitchFamily="2" charset="-127"/>
            </a:endParaRPr>
          </a:p>
          <a:p>
            <a:r>
              <a:rPr lang="en-US" altLang="ko-KR" sz="5400" dirty="0">
                <a:solidFill>
                  <a:schemeClr val="bg1"/>
                </a:solidFill>
                <a:latin typeface="페이퍼로지 7 Bold" pitchFamily="2" charset="-127"/>
                <a:ea typeface="페이퍼로지 7 Bold" pitchFamily="2" charset="-127"/>
              </a:rPr>
              <a:t>예측 모델 재분석 — 데이터 품질 진단부터 검증까지</a:t>
            </a:r>
          </a:p>
        </p:txBody>
      </p:sp>
      <p:sp>
        <p:nvSpPr>
          <p:cNvPr id="6" name="사각형: 둥근 모서리 5">
            <a:extLst>
              <a:ext uri="{FF2B5EF4-FFF2-40B4-BE49-F238E27FC236}">
                <a16:creationId xmlns:a16="http://schemas.microsoft.com/office/drawing/2014/main" id="{218C7B53-40FE-411A-8EB7-6B21E7B669F0}"/>
              </a:ext>
            </a:extLst>
          </p:cNvPr>
          <p:cNvSpPr/>
          <p:nvPr/>
        </p:nvSpPr>
        <p:spPr>
          <a:xfrm>
            <a:off x="11996187" y="4788272"/>
            <a:ext cx="1692000" cy="628810"/>
          </a:xfrm>
          <a:prstGeom prst="roundRect">
            <a:avLst>
              <a:gd name="adj" fmla="val 82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014" dirty="0">
                <a:solidFill>
                  <a:srgbClr val="2D2C79"/>
                </a:solidFill>
                <a:latin typeface="페이퍼로지 6 SemiBold" pitchFamily="2" charset="-127"/>
                <a:ea typeface="페이퍼로지 6 SemiBold" pitchFamily="2" charset="-127"/>
              </a:rPr>
              <a:t>팀　원</a:t>
            </a:r>
          </a:p>
        </p:txBody>
      </p:sp>
      <p:sp>
        <p:nvSpPr>
          <p:cNvPr id="7" name="사각형: 둥근 모서리 6">
            <a:extLst>
              <a:ext uri="{FF2B5EF4-FFF2-40B4-BE49-F238E27FC236}">
                <a16:creationId xmlns:a16="http://schemas.microsoft.com/office/drawing/2014/main" id="{81348B4C-6269-49D3-9F1A-55307850DA78}"/>
              </a:ext>
            </a:extLst>
          </p:cNvPr>
          <p:cNvSpPr/>
          <p:nvPr/>
        </p:nvSpPr>
        <p:spPr>
          <a:xfrm>
            <a:off x="1730978" y="4788272"/>
            <a:ext cx="1692000" cy="628810"/>
          </a:xfrm>
          <a:prstGeom prst="roundRect">
            <a:avLst>
              <a:gd name="adj" fmla="val 828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014" dirty="0">
                <a:solidFill>
                  <a:srgbClr val="2D2C79"/>
                </a:solidFill>
                <a:latin typeface="페이퍼로지 6 SemiBold" pitchFamily="2" charset="-127"/>
                <a:ea typeface="페이퍼로지 6 SemiBold" pitchFamily="2" charset="-127"/>
              </a:rPr>
              <a:t>지도 교수</a:t>
            </a:r>
          </a:p>
        </p:txBody>
      </p:sp>
      <p:sp>
        <p:nvSpPr>
          <p:cNvPr id="8" name="TextBox 7">
            <a:extLst>
              <a:ext uri="{FF2B5EF4-FFF2-40B4-BE49-F238E27FC236}">
                <a16:creationId xmlns:a16="http://schemas.microsoft.com/office/drawing/2014/main" id="{8BD1CCF6-4244-4E86-85BF-5A96DA0F2F23}"/>
              </a:ext>
            </a:extLst>
          </p:cNvPr>
          <p:cNvSpPr txBox="1"/>
          <p:nvPr/>
        </p:nvSpPr>
        <p:spPr>
          <a:xfrm>
            <a:off x="3668574" y="4851416"/>
            <a:ext cx="7151317" cy="515398"/>
          </a:xfrm>
          <a:prstGeom prst="rect">
            <a:avLst/>
          </a:prstGeom>
          <a:noFill/>
        </p:spPr>
        <p:txBody>
          <a:bodyPr wrap="none" tIns="0" bIns="0" rtlCol="0">
            <a:spAutoFit/>
          </a:bodyPr>
          <a:lstStyle/>
          <a:p>
            <a:r>
              <a:rPr lang="ko-KR" altLang="en-US" sz="3349" dirty="0">
                <a:solidFill>
                  <a:schemeClr val="bg1"/>
                </a:solidFill>
                <a:latin typeface="페이퍼로지 6 SemiBold" pitchFamily="2" charset="-127"/>
                <a:ea typeface="페이퍼로지 6 SemiBold" pitchFamily="2" charset="-127"/>
              </a:rPr>
              <a:t>박성호 교수 </a:t>
            </a:r>
            <a:r>
              <a:rPr lang="en-US" altLang="ko-KR" sz="3349" dirty="0">
                <a:solidFill>
                  <a:schemeClr val="bg1"/>
                </a:solidFill>
                <a:latin typeface="페이퍼로지 6 SemiBold" pitchFamily="2" charset="-127"/>
                <a:ea typeface="페이퍼로지 6 SemiBold" pitchFamily="2" charset="-127"/>
              </a:rPr>
              <a:t>/ </a:t>
            </a:r>
            <a:r>
              <a:rPr lang="ko-KR" altLang="en-US" sz="3349" dirty="0">
                <a:solidFill>
                  <a:schemeClr val="bg1"/>
                </a:solidFill>
                <a:latin typeface="페이퍼로지 6 SemiBold" pitchFamily="2" charset="-127"/>
                <a:ea typeface="페이퍼로지 6 SemiBold" pitchFamily="2" charset="-127"/>
              </a:rPr>
              <a:t>미래자동차 혁신융합사업단</a:t>
            </a:r>
          </a:p>
        </p:txBody>
      </p:sp>
      <p:sp>
        <p:nvSpPr>
          <p:cNvPr id="9" name="TextBox 8">
            <a:extLst>
              <a:ext uri="{FF2B5EF4-FFF2-40B4-BE49-F238E27FC236}">
                <a16:creationId xmlns:a16="http://schemas.microsoft.com/office/drawing/2014/main" id="{81EBCC72-69B2-452F-8007-4154843CBC36}"/>
              </a:ext>
            </a:extLst>
          </p:cNvPr>
          <p:cNvSpPr txBox="1"/>
          <p:nvPr/>
        </p:nvSpPr>
        <p:spPr>
          <a:xfrm>
            <a:off x="13878587" y="4851415"/>
            <a:ext cx="10560869" cy="515398"/>
          </a:xfrm>
          <a:prstGeom prst="rect">
            <a:avLst/>
          </a:prstGeom>
          <a:noFill/>
        </p:spPr>
        <p:txBody>
          <a:bodyPr wrap="square" tIns="0" bIns="0" rtlCol="0">
            <a:spAutoFit/>
          </a:bodyPr>
          <a:lstStyle/>
          <a:p>
            <a:r>
              <a:rPr lang="ko-KR" altLang="en-US" sz="3349" dirty="0" err="1">
                <a:solidFill>
                  <a:schemeClr val="bg1"/>
                </a:solidFill>
                <a:latin typeface="페이퍼로지 6 SemiBold" pitchFamily="2" charset="-127"/>
                <a:ea typeface="페이퍼로지 6 SemiBold" pitchFamily="2" charset="-127"/>
              </a:rPr>
              <a:t>고준혁</a:t>
            </a:r>
            <a:r>
              <a:rPr lang="ko-KR" altLang="en-US" sz="3349" dirty="0">
                <a:solidFill>
                  <a:schemeClr val="bg1"/>
                </a:solidFill>
                <a:latin typeface="페이퍼로지 6 SemiBold" pitchFamily="2" charset="-127"/>
                <a:ea typeface="페이퍼로지 6 SemiBold" pitchFamily="2" charset="-127"/>
              </a:rPr>
              <a:t> </a:t>
            </a:r>
            <a:r>
              <a:rPr lang="en-US" altLang="ko-KR" sz="3349" dirty="0">
                <a:solidFill>
                  <a:schemeClr val="bg1"/>
                </a:solidFill>
                <a:latin typeface="페이퍼로지 6 SemiBold" pitchFamily="2" charset="-127"/>
                <a:ea typeface="페이퍼로지 6 SemiBold" pitchFamily="2" charset="-127"/>
              </a:rPr>
              <a:t>/ </a:t>
            </a:r>
            <a:r>
              <a:rPr lang="ko-KR" altLang="en-US" sz="3349" dirty="0">
                <a:solidFill>
                  <a:schemeClr val="bg1"/>
                </a:solidFill>
                <a:latin typeface="페이퍼로지 6 SemiBold" pitchFamily="2" charset="-127"/>
                <a:ea typeface="페이퍼로지 6 SemiBold" pitchFamily="2" charset="-127"/>
              </a:rPr>
              <a:t>박준형 </a:t>
            </a:r>
            <a:r>
              <a:rPr lang="en-US" altLang="ko-KR" sz="3349" dirty="0">
                <a:solidFill>
                  <a:schemeClr val="bg1"/>
                </a:solidFill>
                <a:latin typeface="페이퍼로지 6 SemiBold" pitchFamily="2" charset="-127"/>
                <a:ea typeface="페이퍼로지 6 SemiBold" pitchFamily="2" charset="-127"/>
              </a:rPr>
              <a:t>/ </a:t>
            </a:r>
            <a:r>
              <a:rPr lang="ko-KR" altLang="en-US" sz="3349" dirty="0">
                <a:solidFill>
                  <a:schemeClr val="bg1"/>
                </a:solidFill>
                <a:latin typeface="페이퍼로지 6 SemiBold" pitchFamily="2" charset="-127"/>
                <a:ea typeface="페이퍼로지 6 SemiBold" pitchFamily="2" charset="-127"/>
              </a:rPr>
              <a:t>박진호 </a:t>
            </a:r>
            <a:r>
              <a:rPr lang="en-US" altLang="ko-KR" sz="3349" dirty="0">
                <a:solidFill>
                  <a:schemeClr val="bg1"/>
                </a:solidFill>
                <a:latin typeface="페이퍼로지 6 SemiBold" pitchFamily="2" charset="-127"/>
                <a:ea typeface="페이퍼로지 6 SemiBold" pitchFamily="2" charset="-127"/>
              </a:rPr>
              <a:t>/ </a:t>
            </a:r>
            <a:r>
              <a:rPr lang="ko-KR" altLang="en-US" sz="3349" dirty="0">
                <a:solidFill>
                  <a:schemeClr val="bg1"/>
                </a:solidFill>
                <a:latin typeface="페이퍼로지 6 SemiBold" pitchFamily="2" charset="-127"/>
                <a:ea typeface="페이퍼로지 6 SemiBold" pitchFamily="2" charset="-127"/>
              </a:rPr>
              <a:t>박동희</a:t>
            </a:r>
          </a:p>
        </p:txBody>
      </p:sp>
      <p:graphicFrame>
        <p:nvGraphicFramePr>
          <p:cNvPr id="2" name="표 1">
            <a:extLst>
              <a:ext uri="{FF2B5EF4-FFF2-40B4-BE49-F238E27FC236}">
                <a16:creationId xmlns:a16="http://schemas.microsoft.com/office/drawing/2014/main" id="{F749DCFC-2402-2209-EDFF-BEEBBCD41283}"/>
              </a:ext>
            </a:extLst>
          </p:cNvPr>
          <p:cNvGraphicFramePr>
            <a:graphicFrameLocks noGrp="1"/>
          </p:cNvGraphicFramePr>
          <p:nvPr/>
        </p:nvGraphicFramePr>
        <p:xfrm>
          <a:off x="0" y="0"/>
          <a:ext cx="5880100" cy="214630"/>
        </p:xfrm>
        <a:graphic>
          <a:graphicData uri="http://schemas.openxmlformats.org/drawingml/2006/table">
            <a:tbl>
              <a:tblPr>
                <a:tableStyleId>{5C22544A-7EE6-4342-B048-85BDC9FD1C3A}</a:tableStyleId>
              </a:tblPr>
              <a:tblGrid>
                <a:gridCol w="5880100">
                  <a:extLst>
                    <a:ext uri="{9D8B030D-6E8A-4147-A177-3AD203B41FA5}">
                      <a16:colId xmlns:a16="http://schemas.microsoft.com/office/drawing/2014/main" val="2009636781"/>
                    </a:ext>
                  </a:extLst>
                </a:gridCol>
              </a:tblGrid>
              <a:tr h="214630">
                <a:tc>
                  <a:txBody>
                    <a:bodyPr/>
                    <a:lstStyle/>
                    <a:p>
                      <a:pPr algn="ctr" fontAlgn="ctr">
                        <a:buNone/>
                      </a:pPr>
                      <a:r>
                        <a:rPr lang="ko-KR" altLang="en-US" sz="1100" u="none" strike="noStrike" dirty="0">
                          <a:effectLst/>
                        </a:rPr>
                        <a:t>도심지 시계열 기반 구간 교통량</a:t>
                      </a:r>
                      <a:r>
                        <a:rPr lang="en-US" altLang="ko-KR" sz="1100" u="none" strike="noStrike" dirty="0">
                          <a:effectLst/>
                        </a:rPr>
                        <a:t>·</a:t>
                      </a:r>
                      <a:r>
                        <a:rPr lang="ko-KR" altLang="en-US" sz="1100" u="none" strike="noStrike" dirty="0">
                          <a:effectLst/>
                        </a:rPr>
                        <a:t>속도 예측을 위한 </a:t>
                      </a:r>
                      <a:r>
                        <a:rPr lang="en-US" altLang="ko-KR" sz="1100" u="none" strike="noStrike" dirty="0">
                          <a:effectLst/>
                        </a:rPr>
                        <a:t>AI </a:t>
                      </a:r>
                      <a:r>
                        <a:rPr lang="ko-KR" altLang="en-US" sz="1100" u="none" strike="noStrike" dirty="0">
                          <a:effectLst/>
                        </a:rPr>
                        <a:t>모델링 및 변수 중요도 분석</a:t>
                      </a:r>
                      <a:endParaRPr lang="ko-KR" altLang="en-US" sz="11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4763" marR="4763" marT="4763" marB="0" anchor="ctr"/>
                </a:tc>
                <a:extLst>
                  <a:ext uri="{0D108BD9-81ED-4DB2-BD59-A6C34878D82A}">
                    <a16:rowId xmlns:a16="http://schemas.microsoft.com/office/drawing/2014/main" val="485406137"/>
                  </a:ext>
                </a:extLst>
              </a:tr>
            </a:tbl>
          </a:graphicData>
        </a:graphic>
      </p:graphicFrame>
      <p:sp>
        <p:nvSpPr>
          <p:cNvPr id="10" name="사각형: 둥근 모서리 9">
            <a:extLst>
              <a:ext uri="{FF2B5EF4-FFF2-40B4-BE49-F238E27FC236}">
                <a16:creationId xmlns:a16="http://schemas.microsoft.com/office/drawing/2014/main" id="{ECC40017-7656-E220-FB18-0B04CD26C985}"/>
              </a:ext>
            </a:extLst>
          </p:cNvPr>
          <p:cNvSpPr/>
          <p:nvPr/>
        </p:nvSpPr>
        <p:spPr>
          <a:xfrm>
            <a:off x="1776992" y="33223236"/>
            <a:ext cx="5372894" cy="1002928"/>
          </a:xfrm>
          <a:prstGeom prst="roundRect">
            <a:avLst>
              <a:gd name="adj" fmla="val 8287"/>
            </a:avLst>
          </a:prstGeom>
          <a:solidFill>
            <a:srgbClr val="1D459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600" dirty="0">
                <a:solidFill>
                  <a:schemeClr val="bg1"/>
                </a:solidFill>
                <a:latin typeface="페이퍼로지 5 Medium" pitchFamily="2" charset="-127"/>
                <a:ea typeface="페이퍼로지 5 Medium" pitchFamily="2" charset="-127"/>
              </a:rPr>
              <a:t>문제 정의</a:t>
            </a:r>
          </a:p>
        </p:txBody>
      </p:sp>
      <p:sp>
        <p:nvSpPr>
          <p:cNvPr id="12" name="TextBox 11">
            <a:extLst>
              <a:ext uri="{FF2B5EF4-FFF2-40B4-BE49-F238E27FC236}">
                <a16:creationId xmlns:a16="http://schemas.microsoft.com/office/drawing/2014/main" id="{8A6F5E9E-A242-BC6A-3907-31C8CA294BBF}"/>
              </a:ext>
            </a:extLst>
          </p:cNvPr>
          <p:cNvSpPr txBox="1"/>
          <p:nvPr/>
        </p:nvSpPr>
        <p:spPr>
          <a:xfrm>
            <a:off x="1730978" y="7637786"/>
            <a:ext cx="10600816" cy="2308324"/>
          </a:xfrm>
          <a:prstGeom prst="rect">
            <a:avLst/>
          </a:prstGeom>
          <a:noFill/>
        </p:spPr>
        <p:txBody>
          <a:bodyPr wrap="square">
            <a:spAutoFit/>
          </a:bodyPr>
          <a:lstStyle/>
          <a:p>
            <a:pPr rtl="0">
              <a:buNone/>
            </a:pPr>
            <a:r>
              <a:rPr lang="ko-KR" altLang="en-US" sz="2400" b="1" i="0" dirty="0">
                <a:solidFill>
                  <a:srgbClr val="000000"/>
                </a:solidFill>
                <a:effectLst/>
                <a:latin typeface="페이퍼로지 6 SemiBold" pitchFamily="2" charset="-127"/>
                <a:ea typeface="페이퍼로지 6 SemiBold" pitchFamily="2" charset="-127"/>
              </a:rPr>
              <a:t>스마트 교차로 센서는 비용 문제로 주요 교차로에만 배치된다. 성남대로에도 센서가 있는 두 교차로 사이에 0.76km의 공백이 있고, 그 안에 주거지로 연결되는 교차로가 3곳</a:t>
            </a:r>
            <a:r>
              <a:rPr lang="ko-KR" altLang="en-US" sz="2400" b="1" dirty="0">
                <a:solidFill>
                  <a:srgbClr val="000000"/>
                </a:solidFill>
                <a:latin typeface="페이퍼로지 6 SemiBold" pitchFamily="2" charset="-127"/>
                <a:ea typeface="페이퍼로지 6 SemiBold" pitchFamily="2" charset="-127"/>
              </a:rPr>
              <a:t>이</a:t>
            </a:r>
            <a:r>
              <a:rPr lang="ko-KR" altLang="en-US" sz="2400" b="1" i="0" dirty="0">
                <a:solidFill>
                  <a:srgbClr val="000000"/>
                </a:solidFill>
                <a:effectLst/>
                <a:latin typeface="페이퍼로지 6 SemiBold" pitchFamily="2" charset="-127"/>
                <a:ea typeface="페이퍼로지 6 SemiBold" pitchFamily="2" charset="-127"/>
              </a:rPr>
              <a:t> 존재한다. 그런데</a:t>
            </a:r>
            <a:r>
              <a:rPr lang="en-US" altLang="ko-KR" sz="2400" b="1" dirty="0">
                <a:solidFill>
                  <a:srgbClr val="000000"/>
                </a:solidFill>
                <a:latin typeface="페이퍼로지 6 SemiBold" pitchFamily="2" charset="-127"/>
                <a:ea typeface="페이퍼로지 6 SemiBold" pitchFamily="2" charset="-127"/>
              </a:rPr>
              <a:t> </a:t>
            </a:r>
            <a:r>
              <a:rPr lang="ko-KR" altLang="en-US" sz="2400" b="1" i="0" dirty="0">
                <a:solidFill>
                  <a:srgbClr val="000000"/>
                </a:solidFill>
                <a:effectLst/>
                <a:latin typeface="페이퍼로지 6 SemiBold" pitchFamily="2" charset="-127"/>
                <a:ea typeface="페이퍼로지 6 SemiBold" pitchFamily="2" charset="-127"/>
              </a:rPr>
              <a:t>이 구간에서는 차량이 얼마나 빠져나가고 합류하는지는 직접 관측할 방법이 없다.</a:t>
            </a:r>
            <a:endParaRPr lang="en-US" altLang="ko-KR" sz="2400" b="1" i="0" dirty="0">
              <a:solidFill>
                <a:srgbClr val="000000"/>
              </a:solidFill>
              <a:effectLst/>
              <a:latin typeface="페이퍼로지 6 SemiBold" pitchFamily="2" charset="-127"/>
              <a:ea typeface="페이퍼로지 6 SemiBold" pitchFamily="2" charset="-127"/>
            </a:endParaRPr>
          </a:p>
          <a:p>
            <a:pPr rtl="0">
              <a:buNone/>
            </a:pPr>
            <a:r>
              <a:rPr lang="ko-KR" altLang="en-US" sz="2400" b="1" dirty="0">
                <a:solidFill>
                  <a:srgbClr val="000000"/>
                </a:solidFill>
                <a:latin typeface="페이퍼로지 6 SemiBold" pitchFamily="2" charset="-127"/>
                <a:ea typeface="페이퍼로지 6 SemiBold" pitchFamily="2" charset="-127"/>
              </a:rPr>
              <a:t>그래서 </a:t>
            </a:r>
            <a:r>
              <a:rPr lang="ko-KR" altLang="en-US" sz="2400" b="1" dirty="0">
                <a:solidFill>
                  <a:srgbClr val="FF0000"/>
                </a:solidFill>
                <a:latin typeface="페이퍼로지 6 SemiBold" pitchFamily="2" charset="-127"/>
                <a:ea typeface="페이퍼로지 6 SemiBold" pitchFamily="2" charset="-127"/>
              </a:rPr>
              <a:t>센서를 추가하지 않고 이미 있는 데이터만으로 </a:t>
            </a:r>
            <a:r>
              <a:rPr lang="ko-KR" altLang="en-US" sz="2400" b="1" dirty="0">
                <a:solidFill>
                  <a:srgbClr val="000000"/>
                </a:solidFill>
                <a:latin typeface="페이퍼로지 6 SemiBold" pitchFamily="2" charset="-127"/>
                <a:ea typeface="페이퍼로지 6 SemiBold" pitchFamily="2" charset="-127"/>
              </a:rPr>
              <a:t>미관측 구간의 유입</a:t>
            </a:r>
            <a:r>
              <a:rPr lang="en-US" altLang="ko-KR" sz="2400" b="1" dirty="0">
                <a:solidFill>
                  <a:srgbClr val="000000"/>
                </a:solidFill>
                <a:latin typeface="페이퍼로지 6 SemiBold" pitchFamily="2" charset="-127"/>
                <a:ea typeface="페이퍼로지 6 SemiBold" pitchFamily="2" charset="-127"/>
              </a:rPr>
              <a:t>&amp;</a:t>
            </a:r>
            <a:r>
              <a:rPr lang="ko-KR" altLang="en-US" sz="2400" b="1" dirty="0">
                <a:solidFill>
                  <a:srgbClr val="000000"/>
                </a:solidFill>
                <a:latin typeface="페이퍼로지 6 SemiBold" pitchFamily="2" charset="-127"/>
                <a:ea typeface="페이퍼로지 6 SemiBold" pitchFamily="2" charset="-127"/>
              </a:rPr>
              <a:t>유출량을 역산 추정하고 </a:t>
            </a:r>
            <a:r>
              <a:rPr lang="en-US" altLang="ko-KR" sz="2400" b="1" dirty="0">
                <a:solidFill>
                  <a:srgbClr val="000000"/>
                </a:solidFill>
                <a:latin typeface="페이퍼로지 6 SemiBold" pitchFamily="2" charset="-127"/>
                <a:ea typeface="페이퍼로지 6 SemiBold" pitchFamily="2" charset="-127"/>
              </a:rPr>
              <a:t>1</a:t>
            </a:r>
            <a:r>
              <a:rPr lang="ko-KR" altLang="en-US" sz="2400" b="1" dirty="0">
                <a:solidFill>
                  <a:srgbClr val="000000"/>
                </a:solidFill>
                <a:latin typeface="페이퍼로지 6 SemiBold" pitchFamily="2" charset="-127"/>
                <a:ea typeface="페이퍼로지 6 SemiBold" pitchFamily="2" charset="-127"/>
              </a:rPr>
              <a:t>시간 뒤의 값을 예측하는 걸 주요 목적으로 모델을 만들었다</a:t>
            </a:r>
            <a:r>
              <a:rPr lang="en-US" altLang="ko-KR" sz="2400" b="1" dirty="0">
                <a:solidFill>
                  <a:srgbClr val="000000"/>
                </a:solidFill>
                <a:latin typeface="페이퍼로지 6 SemiBold" pitchFamily="2" charset="-127"/>
                <a:ea typeface="페이퍼로지 6 SemiBold" pitchFamily="2" charset="-127"/>
              </a:rPr>
              <a:t>.</a:t>
            </a:r>
          </a:p>
        </p:txBody>
      </p:sp>
      <p:sp>
        <p:nvSpPr>
          <p:cNvPr id="15" name="사각형: 둥근 모서리 14">
            <a:extLst>
              <a:ext uri="{FF2B5EF4-FFF2-40B4-BE49-F238E27FC236}">
                <a16:creationId xmlns:a16="http://schemas.microsoft.com/office/drawing/2014/main" id="{7DE7888A-33D4-4634-475D-C425D3861895}"/>
              </a:ext>
            </a:extLst>
          </p:cNvPr>
          <p:cNvSpPr/>
          <p:nvPr/>
        </p:nvSpPr>
        <p:spPr>
          <a:xfrm>
            <a:off x="1776992" y="10092183"/>
            <a:ext cx="5244282" cy="1002928"/>
          </a:xfrm>
          <a:prstGeom prst="roundRect">
            <a:avLst>
              <a:gd name="adj" fmla="val 8287"/>
            </a:avLst>
          </a:prstGeom>
          <a:solidFill>
            <a:srgbClr val="1D459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600" dirty="0">
                <a:solidFill>
                  <a:schemeClr val="bg1"/>
                </a:solidFill>
                <a:latin typeface="페이퍼로지 5 Medium" pitchFamily="2" charset="-127"/>
                <a:ea typeface="페이퍼로지 5 Medium" pitchFamily="2" charset="-127"/>
              </a:rPr>
              <a:t>프로젝트 진행과정</a:t>
            </a:r>
          </a:p>
        </p:txBody>
      </p:sp>
      <p:sp>
        <p:nvSpPr>
          <p:cNvPr id="31" name="사각형: 둥근 모서리 30">
            <a:extLst>
              <a:ext uri="{FF2B5EF4-FFF2-40B4-BE49-F238E27FC236}">
                <a16:creationId xmlns:a16="http://schemas.microsoft.com/office/drawing/2014/main" id="{12BFB619-C2A6-3A0D-5E4D-8CE0B7520545}"/>
              </a:ext>
            </a:extLst>
          </p:cNvPr>
          <p:cNvSpPr/>
          <p:nvPr/>
        </p:nvSpPr>
        <p:spPr>
          <a:xfrm>
            <a:off x="1791285" y="17832923"/>
            <a:ext cx="5205887" cy="1002928"/>
          </a:xfrm>
          <a:prstGeom prst="roundRect">
            <a:avLst>
              <a:gd name="adj" fmla="val 8287"/>
            </a:avLst>
          </a:prstGeom>
          <a:solidFill>
            <a:srgbClr val="1D459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600" dirty="0">
                <a:solidFill>
                  <a:schemeClr val="bg1"/>
                </a:solidFill>
                <a:latin typeface="페이퍼로지 5 Medium" pitchFamily="2" charset="-127"/>
                <a:ea typeface="페이퍼로지 5 Medium" pitchFamily="2" charset="-127"/>
              </a:rPr>
              <a:t>데이터 품질 진단</a:t>
            </a:r>
          </a:p>
        </p:txBody>
      </p:sp>
      <p:sp>
        <p:nvSpPr>
          <p:cNvPr id="37" name="TextBox 36">
            <a:extLst>
              <a:ext uri="{FF2B5EF4-FFF2-40B4-BE49-F238E27FC236}">
                <a16:creationId xmlns:a16="http://schemas.microsoft.com/office/drawing/2014/main" id="{CA3EE743-660D-442E-FB7F-3DFBEAED536B}"/>
              </a:ext>
            </a:extLst>
          </p:cNvPr>
          <p:cNvSpPr txBox="1"/>
          <p:nvPr/>
        </p:nvSpPr>
        <p:spPr>
          <a:xfrm>
            <a:off x="7100394" y="19323635"/>
            <a:ext cx="5974167" cy="5632311"/>
          </a:xfrm>
          <a:prstGeom prst="rect">
            <a:avLst/>
          </a:prstGeom>
          <a:noFill/>
        </p:spPr>
        <p:txBody>
          <a:bodyPr wrap="square">
            <a:spAutoFit/>
          </a:bodyPr>
          <a:lstStyle/>
          <a:p>
            <a:pPr algn="l" rtl="0">
              <a:buNone/>
            </a:pPr>
            <a:r>
              <a:rPr lang="ko-KR" altLang="en-US" sz="2400" b="1" i="0" dirty="0">
                <a:solidFill>
                  <a:srgbClr val="000000"/>
                </a:solidFill>
                <a:effectLst/>
                <a:latin typeface="페이퍼로지 6 SemiBold" pitchFamily="2" charset="-127"/>
                <a:ea typeface="페이퍼로지 6 SemiBold" pitchFamily="2" charset="-127"/>
              </a:rPr>
              <a:t>◆ 원본 데이터</a:t>
            </a: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2023-11 ~ 2025-09, 1시간 단위</a:t>
            </a: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276만 행 (미금역 165.7만 · 동막교 110.5만)</a:t>
            </a:r>
            <a:endParaRPr lang="en-US" altLang="ko-KR" sz="2400" b="1" i="0" dirty="0">
              <a:solidFill>
                <a:srgbClr val="FF914D"/>
              </a:solidFill>
              <a:effectLst/>
              <a:latin typeface="페이퍼로지 6 SemiBold" pitchFamily="2" charset="-127"/>
              <a:ea typeface="페이퍼로지 6 SemiBold" pitchFamily="2" charset="-127"/>
            </a:endParaRPr>
          </a:p>
          <a:p>
            <a:pPr algn="l" rtl="0">
              <a:buNone/>
            </a:pP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 표면적 품질</a:t>
            </a: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셀 내부 결측값 0건, 중복 0건</a:t>
            </a: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 '행 자체가 빠진 것'은 미탐지</a:t>
            </a:r>
            <a:endParaRPr lang="en-US" altLang="ko-KR" sz="2400" b="1" i="0" dirty="0">
              <a:solidFill>
                <a:srgbClr val="FF914D"/>
              </a:solidFill>
              <a:effectLst/>
              <a:latin typeface="페이퍼로지 6 SemiBold" pitchFamily="2" charset="-127"/>
              <a:ea typeface="페이퍼로지 6 SemiBold" pitchFamily="2" charset="-127"/>
            </a:endParaRPr>
          </a:p>
          <a:p>
            <a:pPr algn="l" rtl="0">
              <a:buNone/>
            </a:pP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 4단계 진단 결과</a:t>
            </a: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동막교 검지기 장기 결측 2,533시간</a:t>
            </a: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동막교 부분 오작동 (총량 정상의 0.5%)</a:t>
            </a: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FF914D"/>
                </a:solidFill>
                <a:effectLst/>
                <a:latin typeface="페이퍼로지 6 SemiBold" pitchFamily="2" charset="-127"/>
                <a:ea typeface="페이퍼로지 6 SemiBold" pitchFamily="2" charset="-127"/>
              </a:rPr>
              <a:t>미금역 Av143 좌회전 3개월 소실</a:t>
            </a:r>
          </a:p>
          <a:p>
            <a:pPr algn="l" rtl="0">
              <a:buNone/>
            </a:pP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 핵심</a:t>
            </a:r>
            <a:endParaRPr lang="ko-KR" altLang="en-US" sz="2400" dirty="0">
              <a:effectLst/>
              <a:latin typeface="페이퍼로지 6 SemiBold" pitchFamily="2" charset="-127"/>
              <a:ea typeface="페이퍼로지 6 SemiBold" pitchFamily="2" charset="-127"/>
            </a:endParaRPr>
          </a:p>
          <a:p>
            <a:pPr algn="l" rtl="0">
              <a:buNone/>
            </a:pPr>
            <a:r>
              <a:rPr lang="ko-KR" altLang="en-US" sz="2400" b="1" i="0" dirty="0">
                <a:solidFill>
                  <a:srgbClr val="000000"/>
                </a:solidFill>
                <a:effectLst/>
                <a:latin typeface="페이퍼로지 6 SemiBold" pitchFamily="2" charset="-127"/>
                <a:ea typeface="페이퍼로지 6 SemiBold" pitchFamily="2" charset="-127"/>
              </a:rPr>
              <a:t>총량 감시로는 구성요소 결손 미탐지</a:t>
            </a:r>
            <a:endParaRPr lang="ko-KR" altLang="en-US" sz="2400" dirty="0">
              <a:effectLst/>
              <a:latin typeface="페이퍼로지 6 SemiBold" pitchFamily="2" charset="-127"/>
              <a:ea typeface="페이퍼로지 6 SemiBold" pitchFamily="2" charset="-127"/>
            </a:endParaRPr>
          </a:p>
        </p:txBody>
      </p:sp>
      <p:pic>
        <p:nvPicPr>
          <p:cNvPr id="45" name="그림 44">
            <a:extLst>
              <a:ext uri="{FF2B5EF4-FFF2-40B4-BE49-F238E27FC236}">
                <a16:creationId xmlns:a16="http://schemas.microsoft.com/office/drawing/2014/main" id="{C6BEE781-1141-AA7D-9947-AB92092ECA7D}"/>
              </a:ext>
            </a:extLst>
          </p:cNvPr>
          <p:cNvPicPr>
            <a:picLocks noChangeAspect="1"/>
          </p:cNvPicPr>
          <p:nvPr/>
        </p:nvPicPr>
        <p:blipFill>
          <a:blip r:embed="rId2"/>
          <a:stretch>
            <a:fillRect/>
          </a:stretch>
        </p:blipFill>
        <p:spPr>
          <a:xfrm>
            <a:off x="1815388" y="19065785"/>
            <a:ext cx="4156048" cy="6323962"/>
          </a:xfrm>
          <a:prstGeom prst="rect">
            <a:avLst/>
          </a:prstGeom>
        </p:spPr>
      </p:pic>
      <p:pic>
        <p:nvPicPr>
          <p:cNvPr id="49" name="그림 48">
            <a:extLst>
              <a:ext uri="{FF2B5EF4-FFF2-40B4-BE49-F238E27FC236}">
                <a16:creationId xmlns:a16="http://schemas.microsoft.com/office/drawing/2014/main" id="{C13BB432-AE73-5297-393A-30F344F99A32}"/>
              </a:ext>
            </a:extLst>
          </p:cNvPr>
          <p:cNvPicPr>
            <a:picLocks noChangeAspect="1"/>
          </p:cNvPicPr>
          <p:nvPr/>
        </p:nvPicPr>
        <p:blipFill>
          <a:blip r:embed="rId3"/>
          <a:stretch>
            <a:fillRect/>
          </a:stretch>
        </p:blipFill>
        <p:spPr>
          <a:xfrm>
            <a:off x="1856455" y="29646867"/>
            <a:ext cx="12762861" cy="3397080"/>
          </a:xfrm>
          <a:prstGeom prst="rect">
            <a:avLst/>
          </a:prstGeom>
        </p:spPr>
      </p:pic>
      <p:sp>
        <p:nvSpPr>
          <p:cNvPr id="51" name="TextBox 50">
            <a:extLst>
              <a:ext uri="{FF2B5EF4-FFF2-40B4-BE49-F238E27FC236}">
                <a16:creationId xmlns:a16="http://schemas.microsoft.com/office/drawing/2014/main" id="{5DE6FB6C-8CC7-E825-7795-1831758426F2}"/>
              </a:ext>
            </a:extLst>
          </p:cNvPr>
          <p:cNvSpPr txBox="1"/>
          <p:nvPr/>
        </p:nvSpPr>
        <p:spPr>
          <a:xfrm>
            <a:off x="1815387" y="26733907"/>
            <a:ext cx="11734737" cy="1938992"/>
          </a:xfrm>
          <a:prstGeom prst="rect">
            <a:avLst/>
          </a:prstGeom>
          <a:noFill/>
        </p:spPr>
        <p:txBody>
          <a:bodyPr wrap="square">
            <a:spAutoFit/>
          </a:bodyPr>
          <a:lstStyle/>
          <a:p>
            <a:pPr>
              <a:buFont typeface="Arial" panose="020B0604020202020204" pitchFamily="34" charset="0"/>
              <a:buChar char="•"/>
            </a:pPr>
            <a:r>
              <a:rPr lang="ko-KR" altLang="en-US" sz="2400" b="1" i="0" dirty="0">
                <a:effectLst/>
                <a:latin typeface="페이퍼로지 6 SemiBold" pitchFamily="2" charset="-127"/>
                <a:ea typeface="페이퍼로지 6 SemiBold" pitchFamily="2" charset="-127"/>
              </a:rPr>
              <a:t>접근로정보 파일의 CoupleLinkID를 역산 검증한 결과, 8개 중 Av144 한 곳의 값이 인접 접근로 것으로 잘못 기록되어 있었다.</a:t>
            </a:r>
            <a:endParaRPr lang="en-US" altLang="ko-KR" sz="2400" b="1" i="0" dirty="0">
              <a:effectLst/>
              <a:latin typeface="페이퍼로지 6 SemiBold" pitchFamily="2" charset="-127"/>
              <a:ea typeface="페이퍼로지 6 SemiBold" pitchFamily="2" charset="-127"/>
            </a:endParaRPr>
          </a:p>
          <a:p>
            <a:pPr>
              <a:buFont typeface="Arial" panose="020B0604020202020204" pitchFamily="34" charset="0"/>
              <a:buChar char="•"/>
            </a:pPr>
            <a:endParaRPr lang="ko-KR" altLang="en-US" sz="2400" dirty="0">
              <a:latin typeface="페이퍼로지 6 SemiBold" pitchFamily="2" charset="-127"/>
              <a:ea typeface="페이퍼로지 6 SemiBold" pitchFamily="2" charset="-127"/>
            </a:endParaRPr>
          </a:p>
          <a:p>
            <a:pPr>
              <a:buFont typeface="Arial" panose="020B0604020202020204" pitchFamily="34" charset="0"/>
              <a:buChar char="•"/>
            </a:pPr>
            <a:r>
              <a:rPr lang="ko-KR" altLang="en-US" sz="2400" b="1" i="0" dirty="0">
                <a:effectLst/>
                <a:latin typeface="페이퍼로지 6 SemiBold" pitchFamily="2" charset="-127"/>
                <a:ea typeface="페이퍼로지 6 SemiBold" pitchFamily="2" charset="-127"/>
              </a:rPr>
              <a:t>접근로 이름도 실제 방위와 반대였다. 간선축 식별·출퇴근 비대칭·심야 교통량 보존(오차 5.2%)으로 방위를 재판별했다.</a:t>
            </a:r>
            <a:endParaRPr lang="ko-KR" altLang="en-US" sz="2400" dirty="0">
              <a:latin typeface="페이퍼로지 6 SemiBold" pitchFamily="2" charset="-127"/>
              <a:ea typeface="페이퍼로지 6 SemiBold" pitchFamily="2" charset="-127"/>
            </a:endParaRPr>
          </a:p>
        </p:txBody>
      </p:sp>
      <p:sp>
        <p:nvSpPr>
          <p:cNvPr id="52" name="사각형: 둥근 모서리 51">
            <a:extLst>
              <a:ext uri="{FF2B5EF4-FFF2-40B4-BE49-F238E27FC236}">
                <a16:creationId xmlns:a16="http://schemas.microsoft.com/office/drawing/2014/main" id="{4BF2B9CA-4C72-4902-A941-19BD9E342E24}"/>
              </a:ext>
            </a:extLst>
          </p:cNvPr>
          <p:cNvSpPr/>
          <p:nvPr/>
        </p:nvSpPr>
        <p:spPr>
          <a:xfrm>
            <a:off x="1791285" y="25448715"/>
            <a:ext cx="5220180" cy="1002928"/>
          </a:xfrm>
          <a:prstGeom prst="roundRect">
            <a:avLst>
              <a:gd name="adj" fmla="val 8287"/>
            </a:avLst>
          </a:prstGeom>
          <a:solidFill>
            <a:srgbClr val="1D459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600" dirty="0">
                <a:solidFill>
                  <a:schemeClr val="bg1"/>
                </a:solidFill>
                <a:latin typeface="페이퍼로지 5 Medium" pitchFamily="2" charset="-127"/>
                <a:ea typeface="페이퍼로지 5 Medium" pitchFamily="2" charset="-127"/>
              </a:rPr>
              <a:t>접근로 구조 검증</a:t>
            </a:r>
          </a:p>
        </p:txBody>
      </p:sp>
      <p:sp>
        <p:nvSpPr>
          <p:cNvPr id="54" name="TextBox 53">
            <a:extLst>
              <a:ext uri="{FF2B5EF4-FFF2-40B4-BE49-F238E27FC236}">
                <a16:creationId xmlns:a16="http://schemas.microsoft.com/office/drawing/2014/main" id="{EE293938-9595-0D4F-E538-395C15BD0A61}"/>
              </a:ext>
            </a:extLst>
          </p:cNvPr>
          <p:cNvSpPr txBox="1"/>
          <p:nvPr/>
        </p:nvSpPr>
        <p:spPr>
          <a:xfrm>
            <a:off x="2169094" y="39624024"/>
            <a:ext cx="3355407" cy="646331"/>
          </a:xfrm>
          <a:prstGeom prst="rect">
            <a:avLst/>
          </a:prstGeom>
          <a:noFill/>
        </p:spPr>
        <p:txBody>
          <a:bodyPr wrap="square">
            <a:spAutoFit/>
          </a:bodyPr>
          <a:lstStyle/>
          <a:p>
            <a:pPr algn="just" rtl="0"/>
            <a:endParaRPr lang="ko-KR" altLang="en-US" dirty="0">
              <a:effectLst/>
              <a:latin typeface="페이퍼로지 6 SemiBold" pitchFamily="2" charset="-127"/>
              <a:ea typeface="페이퍼로지 6 SemiBold" pitchFamily="2" charset="-127"/>
            </a:endParaRPr>
          </a:p>
        </p:txBody>
      </p:sp>
      <p:sp>
        <p:nvSpPr>
          <p:cNvPr id="56" name="TextBox 55">
            <a:extLst>
              <a:ext uri="{FF2B5EF4-FFF2-40B4-BE49-F238E27FC236}">
                <a16:creationId xmlns:a16="http://schemas.microsoft.com/office/drawing/2014/main" id="{F835B2D9-47F5-81DD-D38D-8814970639A5}"/>
              </a:ext>
            </a:extLst>
          </p:cNvPr>
          <p:cNvSpPr txBox="1"/>
          <p:nvPr/>
        </p:nvSpPr>
        <p:spPr>
          <a:xfrm>
            <a:off x="6463850" y="39624023"/>
            <a:ext cx="3355407" cy="646331"/>
          </a:xfrm>
          <a:prstGeom prst="rect">
            <a:avLst/>
          </a:prstGeom>
          <a:noFill/>
        </p:spPr>
        <p:txBody>
          <a:bodyPr wrap="square">
            <a:spAutoFit/>
          </a:bodyPr>
          <a:lstStyle/>
          <a:p>
            <a:pPr algn="just" rtl="0"/>
            <a:endParaRPr lang="ko-KR" altLang="en-US" dirty="0">
              <a:effectLst/>
              <a:latin typeface="페이퍼로지 6 SemiBold" pitchFamily="2" charset="-127"/>
              <a:ea typeface="페이퍼로지 6 SemiBold" pitchFamily="2" charset="-127"/>
            </a:endParaRPr>
          </a:p>
        </p:txBody>
      </p:sp>
      <p:sp>
        <p:nvSpPr>
          <p:cNvPr id="63" name="TextBox 62">
            <a:extLst>
              <a:ext uri="{FF2B5EF4-FFF2-40B4-BE49-F238E27FC236}">
                <a16:creationId xmlns:a16="http://schemas.microsoft.com/office/drawing/2014/main" id="{8CD35A73-D3AD-E40B-72AC-EAEED24BBA7F}"/>
              </a:ext>
            </a:extLst>
          </p:cNvPr>
          <p:cNvSpPr txBox="1"/>
          <p:nvPr/>
        </p:nvSpPr>
        <p:spPr>
          <a:xfrm>
            <a:off x="1917425" y="29056169"/>
            <a:ext cx="3882407" cy="461665"/>
          </a:xfrm>
          <a:prstGeom prst="rect">
            <a:avLst/>
          </a:prstGeom>
          <a:noFill/>
        </p:spPr>
        <p:txBody>
          <a:bodyPr wrap="square">
            <a:spAutoFit/>
          </a:bodyPr>
          <a:lstStyle/>
          <a:p>
            <a:pPr algn="just" rtl="0">
              <a:buNone/>
            </a:pPr>
            <a:r>
              <a:rPr lang="ko-KR" altLang="en-US" sz="2400" b="1" i="0" dirty="0">
                <a:solidFill>
                  <a:srgbClr val="000000"/>
                </a:solidFill>
                <a:effectLst/>
                <a:latin typeface="페이퍼로지 6 SemiBold" pitchFamily="2" charset="-127"/>
                <a:ea typeface="페이퍼로지 6 SemiBold" pitchFamily="2" charset="-127"/>
              </a:rPr>
              <a:t>Av144 메타데이터 오류</a:t>
            </a:r>
            <a:endParaRPr lang="ko-KR" altLang="en-US" sz="2400" dirty="0">
              <a:effectLst/>
              <a:latin typeface="페이퍼로지 6 SemiBold" pitchFamily="2" charset="-127"/>
              <a:ea typeface="페이퍼로지 6 SemiBold" pitchFamily="2" charset="-127"/>
            </a:endParaRPr>
          </a:p>
        </p:txBody>
      </p:sp>
      <p:sp>
        <p:nvSpPr>
          <p:cNvPr id="64" name="TextBox 63">
            <a:extLst>
              <a:ext uri="{FF2B5EF4-FFF2-40B4-BE49-F238E27FC236}">
                <a16:creationId xmlns:a16="http://schemas.microsoft.com/office/drawing/2014/main" id="{96DCC97D-C57E-8B3E-BF26-FB3FB714D11C}"/>
              </a:ext>
            </a:extLst>
          </p:cNvPr>
          <p:cNvSpPr txBox="1"/>
          <p:nvPr/>
        </p:nvSpPr>
        <p:spPr>
          <a:xfrm>
            <a:off x="5799832" y="29056169"/>
            <a:ext cx="3882407" cy="461665"/>
          </a:xfrm>
          <a:prstGeom prst="rect">
            <a:avLst/>
          </a:prstGeom>
          <a:noFill/>
        </p:spPr>
        <p:txBody>
          <a:bodyPr wrap="square">
            <a:spAutoFit/>
          </a:bodyPr>
          <a:lstStyle/>
          <a:p>
            <a:pPr algn="just" rtl="0">
              <a:buNone/>
            </a:pPr>
            <a:r>
              <a:rPr lang="ko-KR" altLang="en-US" sz="2400" b="1" dirty="0" err="1">
                <a:solidFill>
                  <a:srgbClr val="000000"/>
                </a:solidFill>
                <a:latin typeface="페이퍼로지 6 SemiBold" pitchFamily="2" charset="-127"/>
                <a:ea typeface="페이퍼로지 6 SemiBold" pitchFamily="2" charset="-127"/>
              </a:rPr>
              <a:t>AvenueName 방위 불일치</a:t>
            </a:r>
            <a:endParaRPr lang="ko-KR" altLang="en-US" sz="2400" dirty="0">
              <a:effectLst/>
              <a:latin typeface="페이퍼로지 6 SemiBold" pitchFamily="2" charset="-127"/>
              <a:ea typeface="페이퍼로지 6 SemiBold" pitchFamily="2" charset="-127"/>
            </a:endParaRPr>
          </a:p>
        </p:txBody>
      </p:sp>
      <p:sp>
        <p:nvSpPr>
          <p:cNvPr id="65" name="TextBox 64">
            <a:extLst>
              <a:ext uri="{FF2B5EF4-FFF2-40B4-BE49-F238E27FC236}">
                <a16:creationId xmlns:a16="http://schemas.microsoft.com/office/drawing/2014/main" id="{993BBBC1-A861-F7F2-24DB-3E66E06A346C}"/>
              </a:ext>
            </a:extLst>
          </p:cNvPr>
          <p:cNvSpPr txBox="1"/>
          <p:nvPr/>
        </p:nvSpPr>
        <p:spPr>
          <a:xfrm>
            <a:off x="10478293" y="29042600"/>
            <a:ext cx="2879331" cy="461665"/>
          </a:xfrm>
          <a:prstGeom prst="rect">
            <a:avLst/>
          </a:prstGeom>
          <a:noFill/>
        </p:spPr>
        <p:txBody>
          <a:bodyPr wrap="square">
            <a:spAutoFit/>
          </a:bodyPr>
          <a:lstStyle/>
          <a:p>
            <a:pPr algn="just" rtl="0">
              <a:buNone/>
            </a:pPr>
            <a:r>
              <a:rPr lang="ko-KR" altLang="en-US" sz="2400" b="1" dirty="0">
                <a:solidFill>
                  <a:srgbClr val="000000"/>
                </a:solidFill>
                <a:latin typeface="페이퍼로지 6 SemiBold" pitchFamily="2" charset="-127"/>
                <a:ea typeface="페이퍼로지 6 SemiBold" pitchFamily="2" charset="-127"/>
              </a:rPr>
              <a:t>Av143 소실의 영향</a:t>
            </a:r>
            <a:endParaRPr lang="ko-KR" altLang="en-US" sz="2400" dirty="0">
              <a:effectLst/>
              <a:latin typeface="페이퍼로지 6 SemiBold" pitchFamily="2" charset="-127"/>
              <a:ea typeface="페이퍼로지 6 SemiBold" pitchFamily="2" charset="-127"/>
            </a:endParaRPr>
          </a:p>
        </p:txBody>
      </p:sp>
      <p:pic>
        <p:nvPicPr>
          <p:cNvPr id="67" name="그림 66">
            <a:extLst>
              <a:ext uri="{FF2B5EF4-FFF2-40B4-BE49-F238E27FC236}">
                <a16:creationId xmlns:a16="http://schemas.microsoft.com/office/drawing/2014/main" id="{2585F950-AD23-A6FB-9E8D-5C22EF895104}"/>
              </a:ext>
            </a:extLst>
          </p:cNvPr>
          <p:cNvPicPr>
            <a:picLocks noChangeAspect="1"/>
          </p:cNvPicPr>
          <p:nvPr/>
        </p:nvPicPr>
        <p:blipFill>
          <a:blip r:embed="rId4"/>
          <a:stretch>
            <a:fillRect/>
          </a:stretch>
        </p:blipFill>
        <p:spPr>
          <a:xfrm>
            <a:off x="1657990" y="34321178"/>
            <a:ext cx="6717398" cy="6201739"/>
          </a:xfrm>
          <a:prstGeom prst="rect">
            <a:avLst/>
          </a:prstGeom>
          <a:effectLst>
            <a:softEdge rad="12700"/>
          </a:effectLst>
        </p:spPr>
      </p:pic>
      <p:sp>
        <p:nvSpPr>
          <p:cNvPr id="69" name="TextBox 68">
            <a:extLst>
              <a:ext uri="{FF2B5EF4-FFF2-40B4-BE49-F238E27FC236}">
                <a16:creationId xmlns:a16="http://schemas.microsoft.com/office/drawing/2014/main" id="{36CFD987-7571-678B-E8FB-1EEDC9C7583A}"/>
              </a:ext>
            </a:extLst>
          </p:cNvPr>
          <p:cNvSpPr txBox="1"/>
          <p:nvPr/>
        </p:nvSpPr>
        <p:spPr>
          <a:xfrm>
            <a:off x="8414957" y="34521274"/>
            <a:ext cx="6050902" cy="6001643"/>
          </a:xfrm>
          <a:prstGeom prst="rect">
            <a:avLst/>
          </a:prstGeom>
          <a:noFill/>
        </p:spPr>
        <p:txBody>
          <a:bodyPr wrap="square">
            <a:spAutoFit/>
          </a:bodyPr>
          <a:lstStyle/>
          <a:p>
            <a:pPr algn="l" rtl="0">
              <a:buFont typeface="Arial" panose="020B0604020202020204" pitchFamily="34" charset="0"/>
              <a:buChar char="•"/>
            </a:pPr>
            <a:r>
              <a:rPr lang="ko-KR" altLang="en-US" sz="2400" b="1" i="0" dirty="0" err="1">
                <a:solidFill>
                  <a:srgbClr val="191919"/>
                </a:solidFill>
                <a:effectLst/>
                <a:latin typeface="페이퍼로지 6 SemiBold" pitchFamily="2" charset="-127"/>
                <a:ea typeface="페이퍼로지 6 SemiBold" pitchFamily="2" charset="-127"/>
              </a:rPr>
              <a:t>미금역사거리와 동막교사거리 사이 0.76km 구간에는 센서로 측정되지 않는 교차로가 3곳 존재하며, 모두 인근 주거지로 연결되는 통행로다.</a:t>
            </a:r>
            <a:endParaRPr lang="en-US" altLang="ko-KR" sz="2400" b="1" i="0" dirty="0">
              <a:solidFill>
                <a:srgbClr val="191919"/>
              </a:solidFill>
              <a:effectLst/>
              <a:latin typeface="페이퍼로지 6 SemiBold" pitchFamily="2" charset="-127"/>
              <a:ea typeface="페이퍼로지 6 SemiBold" pitchFamily="2" charset="-127"/>
            </a:endParaRPr>
          </a:p>
          <a:p>
            <a:pPr algn="l" rtl="0">
              <a:buFont typeface="Arial" panose="020B0604020202020204" pitchFamily="34" charset="0"/>
              <a:buChar char="•"/>
            </a:pPr>
            <a:endParaRPr lang="ko-KR" altLang="en-US" sz="2400" dirty="0">
              <a:effectLst/>
              <a:latin typeface="페이퍼로지 6 SemiBold" pitchFamily="2" charset="-127"/>
              <a:ea typeface="페이퍼로지 6 SemiBold" pitchFamily="2" charset="-127"/>
            </a:endParaRPr>
          </a:p>
          <a:p>
            <a:pPr algn="l" rtl="0">
              <a:buFont typeface="Arial" panose="020B0604020202020204" pitchFamily="34" charset="0"/>
              <a:buChar char="•"/>
            </a:pPr>
            <a:r>
              <a:rPr lang="ko-KR" altLang="en-US" sz="2400" b="1" i="0" dirty="0">
                <a:solidFill>
                  <a:srgbClr val="191919"/>
                </a:solidFill>
                <a:effectLst/>
                <a:latin typeface="페이퍼로지 6 SemiBold" pitchFamily="2" charset="-127"/>
                <a:ea typeface="페이퍼로지 6 SemiBold" pitchFamily="2" charset="-127"/>
              </a:rPr>
              <a:t>이 구간의 유입·유출량은 지체 평가, LOS 산정 등 교통 운영 전반에 필요한 정보이지만 직접 관측이 불가능하다.</a:t>
            </a:r>
            <a:endParaRPr lang="en-US" altLang="ko-KR" sz="2400" b="1" i="0" dirty="0">
              <a:solidFill>
                <a:srgbClr val="191919"/>
              </a:solidFill>
              <a:effectLst/>
              <a:latin typeface="페이퍼로지 6 SemiBold" pitchFamily="2" charset="-127"/>
              <a:ea typeface="페이퍼로지 6 SemiBold" pitchFamily="2" charset="-127"/>
            </a:endParaRPr>
          </a:p>
          <a:p>
            <a:pPr algn="l" rtl="0">
              <a:buFont typeface="Arial" panose="020B0604020202020204" pitchFamily="34" charset="0"/>
              <a:buChar char="•"/>
            </a:pPr>
            <a:endParaRPr lang="ko-KR" altLang="en-US" sz="2400" dirty="0">
              <a:effectLst/>
              <a:latin typeface="페이퍼로지 6 SemiBold" pitchFamily="2" charset="-127"/>
              <a:ea typeface="페이퍼로지 6 SemiBold" pitchFamily="2" charset="-127"/>
            </a:endParaRPr>
          </a:p>
          <a:p>
            <a:pPr algn="l" rtl="0">
              <a:buFont typeface="Arial" panose="020B0604020202020204" pitchFamily="34" charset="0"/>
              <a:buChar char="•"/>
            </a:pPr>
            <a:r>
              <a:rPr lang="ko-KR" altLang="en-US" sz="2400" b="1" i="0" dirty="0" err="1">
                <a:solidFill>
                  <a:srgbClr val="191919"/>
                </a:solidFill>
                <a:effectLst/>
                <a:latin typeface="페이퍼로지 6 SemiBold" pitchFamily="2" charset="-127"/>
                <a:ea typeface="페이퍼로지 6 SemiBold" pitchFamily="2" charset="-127"/>
              </a:rPr>
              <a:t>본 프로젝트는 교통량 보존 법칙을 이용해 상류 진출량과 하류 진입량의 차이로 이를 역산 정의했다.</a:t>
            </a:r>
            <a:endParaRPr lang="en-US" altLang="ko-KR" sz="2400" b="1" i="0" dirty="0">
              <a:solidFill>
                <a:srgbClr val="191919"/>
              </a:solidFill>
              <a:effectLst/>
              <a:latin typeface="페이퍼로지 6 SemiBold" pitchFamily="2" charset="-127"/>
              <a:ea typeface="페이퍼로지 6 SemiBold" pitchFamily="2" charset="-127"/>
            </a:endParaRPr>
          </a:p>
          <a:p>
            <a:pPr algn="l" rtl="0">
              <a:buFont typeface="Arial" panose="020B0604020202020204" pitchFamily="34" charset="0"/>
              <a:buChar char="•"/>
            </a:pPr>
            <a:endParaRPr lang="ko-KR" altLang="en-US" sz="2400" dirty="0">
              <a:effectLst/>
              <a:latin typeface="페이퍼로지 6 SemiBold" pitchFamily="2" charset="-127"/>
              <a:ea typeface="페이퍼로지 6 SemiBold" pitchFamily="2" charset="-127"/>
            </a:endParaRPr>
          </a:p>
          <a:p>
            <a:pPr algn="l" rtl="0">
              <a:buFont typeface="Arial" panose="020B0604020202020204" pitchFamily="34" charset="0"/>
              <a:buChar char="•"/>
            </a:pPr>
            <a:r>
              <a:rPr lang="ko-KR" altLang="en-US" sz="2400" b="1" i="0" dirty="0">
                <a:solidFill>
                  <a:srgbClr val="191919"/>
                </a:solidFill>
                <a:effectLst/>
                <a:latin typeface="페이퍼로지 6 SemiBold" pitchFamily="2" charset="-127"/>
                <a:ea typeface="페이퍼로지 6 SemiBold" pitchFamily="2" charset="-127"/>
              </a:rPr>
              <a:t>정의의 타당성은 심야(2~4시) 데이터로 검증했다. 주거지 통행이 거의 없는 시간대에는 두 지점 교통량이 일치해야 하며, 실제로 오차가 5.2%로 수렴하는 것을 확인했다.</a:t>
            </a:r>
            <a:endParaRPr lang="ko-KR" altLang="en-US" sz="2400" dirty="0">
              <a:effectLst/>
              <a:latin typeface="페이퍼로지 6 SemiBold" pitchFamily="2" charset="-127"/>
              <a:ea typeface="페이퍼로지 6 SemiBold" pitchFamily="2" charset="-127"/>
            </a:endParaRPr>
          </a:p>
        </p:txBody>
      </p:sp>
      <p:sp>
        <p:nvSpPr>
          <p:cNvPr id="70" name="사각형: 둥근 모서리 69">
            <a:extLst>
              <a:ext uri="{FF2B5EF4-FFF2-40B4-BE49-F238E27FC236}">
                <a16:creationId xmlns:a16="http://schemas.microsoft.com/office/drawing/2014/main" id="{F322CD59-ABE4-42A6-0C5C-6A91B151B3B5}"/>
              </a:ext>
            </a:extLst>
          </p:cNvPr>
          <p:cNvSpPr/>
          <p:nvPr/>
        </p:nvSpPr>
        <p:spPr>
          <a:xfrm>
            <a:off x="15050791" y="6372091"/>
            <a:ext cx="5411862" cy="1002928"/>
          </a:xfrm>
          <a:prstGeom prst="roundRect">
            <a:avLst>
              <a:gd name="adj" fmla="val 8287"/>
            </a:avLst>
          </a:prstGeom>
          <a:solidFill>
            <a:srgbClr val="1D459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600" dirty="0">
                <a:solidFill>
                  <a:schemeClr val="bg1"/>
                </a:solidFill>
                <a:latin typeface="페이퍼로지 5 Medium" pitchFamily="2" charset="-127"/>
                <a:ea typeface="페이퍼로지 5 Medium" pitchFamily="2" charset="-127"/>
              </a:rPr>
              <a:t>Loss(v) 정의와 기준선</a:t>
            </a:r>
          </a:p>
        </p:txBody>
      </p:sp>
      <p:pic>
        <p:nvPicPr>
          <p:cNvPr id="74" name="그림 73">
            <a:extLst>
              <a:ext uri="{FF2B5EF4-FFF2-40B4-BE49-F238E27FC236}">
                <a16:creationId xmlns:a16="http://schemas.microsoft.com/office/drawing/2014/main" id="{9BF3A942-AF63-EFA5-A78E-56248580E0F1}"/>
              </a:ext>
            </a:extLst>
          </p:cNvPr>
          <p:cNvPicPr>
            <a:picLocks noChangeAspect="1"/>
          </p:cNvPicPr>
          <p:nvPr/>
        </p:nvPicPr>
        <p:blipFill>
          <a:blip r:embed="rId5"/>
          <a:stretch>
            <a:fillRect/>
          </a:stretch>
        </p:blipFill>
        <p:spPr>
          <a:xfrm>
            <a:off x="15050790" y="7564951"/>
            <a:ext cx="13834067" cy="4137365"/>
          </a:xfrm>
          <a:prstGeom prst="rect">
            <a:avLst/>
          </a:prstGeom>
        </p:spPr>
      </p:pic>
      <p:sp>
        <p:nvSpPr>
          <p:cNvPr id="76" name="TextBox 75">
            <a:extLst>
              <a:ext uri="{FF2B5EF4-FFF2-40B4-BE49-F238E27FC236}">
                <a16:creationId xmlns:a16="http://schemas.microsoft.com/office/drawing/2014/main" id="{6DFC0392-1B5C-D64E-0844-1DBF2A2AF19A}"/>
              </a:ext>
            </a:extLst>
          </p:cNvPr>
          <p:cNvSpPr txBox="1"/>
          <p:nvPr/>
        </p:nvSpPr>
        <p:spPr>
          <a:xfrm>
            <a:off x="15124139" y="16328661"/>
            <a:ext cx="6500443" cy="2862322"/>
          </a:xfrm>
          <a:prstGeom prst="rect">
            <a:avLst/>
          </a:prstGeom>
          <a:noFill/>
        </p:spPr>
        <p:txBody>
          <a:bodyPr wrap="square">
            <a:spAutoFit/>
          </a:bodyPr>
          <a:lstStyle/>
          <a:p>
            <a:pPr algn="l" rtl="0">
              <a:buFont typeface="Arial" panose="020B0604020202020204" pitchFamily="34" charset="0"/>
              <a:buChar char="•"/>
            </a:pPr>
            <a:r>
              <a:rPr lang="ko-KR" altLang="en-US" sz="2000" b="1" i="0" dirty="0">
                <a:solidFill>
                  <a:srgbClr val="191919"/>
                </a:solidFill>
                <a:effectLst/>
                <a:latin typeface="페이퍼로지 6 SemiBold" pitchFamily="2" charset="-127"/>
                <a:ea typeface="페이퍼로지 6 SemiBold" pitchFamily="2" charset="-127"/>
              </a:rPr>
              <a:t>Loss(v)는 상류 진출량과 하류 진입량의 차이로 정의한다. 양수는 유출, 음수는 유입을 뜻한다.</a:t>
            </a:r>
            <a:endParaRPr lang="en-US" altLang="ko-KR" sz="2000" b="1" i="0" dirty="0">
              <a:solidFill>
                <a:srgbClr val="191919"/>
              </a:solidFill>
              <a:effectLst/>
              <a:latin typeface="페이퍼로지 6 SemiBold" pitchFamily="2" charset="-127"/>
              <a:ea typeface="페이퍼로지 6 SemiBold" pitchFamily="2" charset="-127"/>
            </a:endParaRPr>
          </a:p>
          <a:p>
            <a:pPr algn="l" rtl="0">
              <a:buFont typeface="Arial" panose="020B0604020202020204" pitchFamily="34" charset="0"/>
              <a:buChar char="•"/>
            </a:pPr>
            <a:endParaRPr lang="ko-KR" altLang="en-US" sz="2000" dirty="0">
              <a:effectLst/>
              <a:latin typeface="페이퍼로지 6 SemiBold" pitchFamily="2" charset="-127"/>
              <a:ea typeface="페이퍼로지 6 SemiBold" pitchFamily="2" charset="-127"/>
            </a:endParaRPr>
          </a:p>
          <a:p>
            <a:pPr algn="l" rtl="0">
              <a:buFont typeface="Arial" panose="020B0604020202020204" pitchFamily="34" charset="0"/>
              <a:buChar char="•"/>
            </a:pPr>
            <a:r>
              <a:rPr lang="ko-KR" altLang="en-US" sz="2000" b="1" i="0" dirty="0">
                <a:solidFill>
                  <a:srgbClr val="191919"/>
                </a:solidFill>
                <a:effectLst/>
                <a:latin typeface="페이퍼로지 6 SemiBold" pitchFamily="2" charset="-127"/>
                <a:ea typeface="페이퍼로지 6 SemiBold" pitchFamily="2" charset="-127"/>
              </a:rPr>
              <a:t>기준선 4종 (학습 불필요)</a:t>
            </a:r>
            <a:endParaRPr lang="en-US" altLang="ko-KR" sz="2000" b="1" i="0" dirty="0">
              <a:solidFill>
                <a:srgbClr val="191919"/>
              </a:solidFill>
              <a:effectLst/>
              <a:latin typeface="페이퍼로지 6 SemiBold" pitchFamily="2" charset="-127"/>
              <a:ea typeface="페이퍼로지 6 SemiBold" pitchFamily="2" charset="-127"/>
            </a:endParaRPr>
          </a:p>
          <a:p>
            <a:pPr algn="l" rtl="0"/>
            <a:endParaRPr lang="ko-KR" altLang="en-US" sz="2000" dirty="0">
              <a:effectLst/>
              <a:latin typeface="페이퍼로지 6 SemiBold" pitchFamily="2" charset="-127"/>
              <a:ea typeface="페이퍼로지 6 SemiBold" pitchFamily="2" charset="-127"/>
            </a:endParaRPr>
          </a:p>
          <a:p>
            <a:pPr algn="l" rtl="0">
              <a:buNone/>
            </a:pPr>
            <a:r>
              <a:rPr lang="en-US" altLang="ko-KR" sz="2000" b="1" i="0" dirty="0">
                <a:solidFill>
                  <a:srgbClr val="191919"/>
                </a:solidFill>
                <a:effectLst/>
                <a:latin typeface="페이퍼로지 6 SemiBold" pitchFamily="2" charset="-127"/>
                <a:ea typeface="페이퍼로지 6 SemiBold" pitchFamily="2" charset="-127"/>
              </a:rPr>
              <a:t>→ 두 방향 모두 24h naive 채택</a:t>
            </a:r>
            <a:endParaRPr lang="ko-KR" altLang="en-US" sz="2000" dirty="0">
              <a:effectLst/>
              <a:latin typeface="페이퍼로지 6 SemiBold" pitchFamily="2" charset="-127"/>
              <a:ea typeface="페이퍼로지 6 SemiBold" pitchFamily="2" charset="-127"/>
            </a:endParaRPr>
          </a:p>
          <a:p>
            <a:pPr algn="l" rtl="0">
              <a:buNone/>
            </a:pPr>
            <a:r>
              <a:rPr lang="en-US" altLang="ko-KR" sz="2000" b="1" i="0" dirty="0">
                <a:solidFill>
                  <a:srgbClr val="191919"/>
                </a:solidFill>
                <a:effectLst/>
                <a:latin typeface="페이퍼로지 6 SemiBold" pitchFamily="2" charset="-127"/>
                <a:ea typeface="페이퍼로지 6 SemiBold" pitchFamily="2" charset="-127"/>
              </a:rPr>
              <a:t>(남행은 168h가 근소 우위이나 방향 간 비교 공정성을 위해 통일)</a:t>
            </a:r>
            <a:endParaRPr lang="ko-KR" altLang="en-US" sz="2000" dirty="0">
              <a:effectLst/>
              <a:latin typeface="페이퍼로지 6 SemiBold" pitchFamily="2" charset="-127"/>
              <a:ea typeface="페이퍼로지 6 SemiBold" pitchFamily="2" charset="-127"/>
            </a:endParaRPr>
          </a:p>
          <a:p>
            <a:pPr algn="l" rtl="0">
              <a:buNone/>
            </a:pPr>
            <a:endParaRPr lang="ko-KR" altLang="en-US" sz="2000" dirty="0">
              <a:effectLst/>
              <a:latin typeface="페이퍼로지 6 SemiBold" pitchFamily="2" charset="-127"/>
              <a:ea typeface="페이퍼로지 6 SemiBold" pitchFamily="2" charset="-127"/>
            </a:endParaRPr>
          </a:p>
        </p:txBody>
      </p:sp>
      <p:pic>
        <p:nvPicPr>
          <p:cNvPr id="78" name="그림 77">
            <a:extLst>
              <a:ext uri="{FF2B5EF4-FFF2-40B4-BE49-F238E27FC236}">
                <a16:creationId xmlns:a16="http://schemas.microsoft.com/office/drawing/2014/main" id="{64D475B9-8EEE-E852-5EAF-7063594D79A3}"/>
              </a:ext>
            </a:extLst>
          </p:cNvPr>
          <p:cNvPicPr>
            <a:picLocks noChangeAspect="1"/>
          </p:cNvPicPr>
          <p:nvPr/>
        </p:nvPicPr>
        <p:blipFill>
          <a:blip r:embed="rId6"/>
          <a:stretch>
            <a:fillRect/>
          </a:stretch>
        </p:blipFill>
        <p:spPr>
          <a:xfrm>
            <a:off x="14962429" y="11819591"/>
            <a:ext cx="13324306" cy="4137365"/>
          </a:xfrm>
          <a:prstGeom prst="rect">
            <a:avLst/>
          </a:prstGeom>
        </p:spPr>
      </p:pic>
      <p:sp>
        <p:nvSpPr>
          <p:cNvPr id="80" name="TextBox 79">
            <a:extLst>
              <a:ext uri="{FF2B5EF4-FFF2-40B4-BE49-F238E27FC236}">
                <a16:creationId xmlns:a16="http://schemas.microsoft.com/office/drawing/2014/main" id="{F0AFBBEA-D90C-5E50-AF0F-26B3AA40D094}"/>
              </a:ext>
            </a:extLst>
          </p:cNvPr>
          <p:cNvSpPr txBox="1"/>
          <p:nvPr/>
        </p:nvSpPr>
        <p:spPr>
          <a:xfrm>
            <a:off x="22235116" y="16317335"/>
            <a:ext cx="6774653" cy="1631216"/>
          </a:xfrm>
          <a:prstGeom prst="rect">
            <a:avLst/>
          </a:prstGeom>
          <a:noFill/>
        </p:spPr>
        <p:txBody>
          <a:bodyPr wrap="square">
            <a:spAutoFit/>
          </a:bodyPr>
          <a:lstStyle/>
          <a:p>
            <a:pPr algn="l" rtl="0">
              <a:buFont typeface="Arial" panose="020B0604020202020204" pitchFamily="34" charset="0"/>
              <a:buChar char="•"/>
            </a:pPr>
            <a:r>
              <a:rPr lang="ko-KR" altLang="en-US" sz="2000" b="1" i="0" dirty="0" err="1">
                <a:solidFill>
                  <a:srgbClr val="191919"/>
                </a:solidFill>
                <a:effectLst/>
                <a:latin typeface="페이퍼로지 6 SemiBold" pitchFamily="2" charset="-127"/>
                <a:ea typeface="페이퍼로지 6 SemiBold" pitchFamily="2" charset="-127"/>
              </a:rPr>
              <a:t>북행 persistence의 R²는 −0.601로 단순 평균값 예측보다도 못했다.</a:t>
            </a:r>
            <a:endParaRPr lang="en-US" altLang="ko-KR" sz="2000" b="1" i="0" dirty="0">
              <a:solidFill>
                <a:srgbClr val="191919"/>
              </a:solidFill>
              <a:effectLst/>
              <a:latin typeface="페이퍼로지 6 SemiBold" pitchFamily="2" charset="-127"/>
              <a:ea typeface="페이퍼로지 6 SemiBold" pitchFamily="2" charset="-127"/>
            </a:endParaRPr>
          </a:p>
          <a:p>
            <a:pPr algn="l" rtl="0">
              <a:buFont typeface="Arial" panose="020B0604020202020204" pitchFamily="34" charset="0"/>
              <a:buChar char="•"/>
            </a:pPr>
            <a:endParaRPr lang="ko-KR" altLang="en-US" sz="2000" dirty="0">
              <a:effectLst/>
              <a:latin typeface="페이퍼로지 6 SemiBold" pitchFamily="2" charset="-127"/>
              <a:ea typeface="페이퍼로지 6 SemiBold" pitchFamily="2" charset="-127"/>
            </a:endParaRPr>
          </a:p>
          <a:p>
            <a:pPr algn="l" rtl="0">
              <a:buFont typeface="Arial" panose="020B0604020202020204" pitchFamily="34" charset="0"/>
              <a:buChar char="•"/>
            </a:pPr>
            <a:endParaRPr lang="ko-KR" altLang="en-US" sz="2000" dirty="0">
              <a:effectLst/>
              <a:latin typeface="페이퍼로지 6 SemiBold" pitchFamily="2" charset="-127"/>
              <a:ea typeface="페이퍼로지 6 SemiBold" pitchFamily="2" charset="-127"/>
            </a:endParaRPr>
          </a:p>
        </p:txBody>
      </p:sp>
      <p:sp>
        <p:nvSpPr>
          <p:cNvPr id="83" name="사각형: 둥근 모서리 82">
            <a:extLst>
              <a:ext uri="{FF2B5EF4-FFF2-40B4-BE49-F238E27FC236}">
                <a16:creationId xmlns:a16="http://schemas.microsoft.com/office/drawing/2014/main" id="{8115BF08-4F43-2830-CCE5-D7951951DBCA}"/>
              </a:ext>
            </a:extLst>
          </p:cNvPr>
          <p:cNvSpPr/>
          <p:nvPr/>
        </p:nvSpPr>
        <p:spPr>
          <a:xfrm>
            <a:off x="15266747" y="28338997"/>
            <a:ext cx="5330758" cy="1002928"/>
          </a:xfrm>
          <a:prstGeom prst="roundRect">
            <a:avLst>
              <a:gd name="adj" fmla="val 8287"/>
            </a:avLst>
          </a:prstGeom>
          <a:solidFill>
            <a:srgbClr val="1D459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600" dirty="0">
                <a:solidFill>
                  <a:schemeClr val="bg1"/>
                </a:solidFill>
                <a:latin typeface="페이퍼로지 5 Medium" pitchFamily="2" charset="-127"/>
                <a:ea typeface="페이퍼로지 5 Medium" pitchFamily="2" charset="-127"/>
              </a:rPr>
              <a:t>모델 성능 및 검증</a:t>
            </a:r>
          </a:p>
        </p:txBody>
      </p:sp>
      <p:pic>
        <p:nvPicPr>
          <p:cNvPr id="91" name="그림 90">
            <a:extLst>
              <a:ext uri="{FF2B5EF4-FFF2-40B4-BE49-F238E27FC236}">
                <a16:creationId xmlns:a16="http://schemas.microsoft.com/office/drawing/2014/main" id="{88934578-9E4D-E82C-4045-F183F59C72C4}"/>
              </a:ext>
            </a:extLst>
          </p:cNvPr>
          <p:cNvPicPr>
            <a:picLocks noChangeAspect="1"/>
          </p:cNvPicPr>
          <p:nvPr/>
        </p:nvPicPr>
        <p:blipFill>
          <a:blip r:embed="rId7"/>
          <a:stretch>
            <a:fillRect/>
          </a:stretch>
        </p:blipFill>
        <p:spPr>
          <a:xfrm>
            <a:off x="20799187" y="32183391"/>
            <a:ext cx="8210581" cy="2352112"/>
          </a:xfrm>
          <a:prstGeom prst="rect">
            <a:avLst/>
          </a:prstGeom>
        </p:spPr>
      </p:pic>
      <p:pic>
        <p:nvPicPr>
          <p:cNvPr id="93" name="그림 92">
            <a:extLst>
              <a:ext uri="{FF2B5EF4-FFF2-40B4-BE49-F238E27FC236}">
                <a16:creationId xmlns:a16="http://schemas.microsoft.com/office/drawing/2014/main" id="{F87C08DE-083B-6971-5814-976B135EA28D}"/>
              </a:ext>
            </a:extLst>
          </p:cNvPr>
          <p:cNvPicPr>
            <a:picLocks noChangeAspect="1"/>
          </p:cNvPicPr>
          <p:nvPr/>
        </p:nvPicPr>
        <p:blipFill>
          <a:blip r:embed="rId8"/>
          <a:stretch>
            <a:fillRect/>
          </a:stretch>
        </p:blipFill>
        <p:spPr>
          <a:xfrm>
            <a:off x="20799188" y="29341926"/>
            <a:ext cx="8352076" cy="2662400"/>
          </a:xfrm>
          <a:prstGeom prst="rect">
            <a:avLst/>
          </a:prstGeom>
        </p:spPr>
      </p:pic>
      <p:sp>
        <p:nvSpPr>
          <p:cNvPr id="97" name="TextBox 96">
            <a:extLst>
              <a:ext uri="{FF2B5EF4-FFF2-40B4-BE49-F238E27FC236}">
                <a16:creationId xmlns:a16="http://schemas.microsoft.com/office/drawing/2014/main" id="{E81C6D1C-8CB6-9EAC-7AF7-A8B7E01E3B11}"/>
              </a:ext>
            </a:extLst>
          </p:cNvPr>
          <p:cNvSpPr txBox="1"/>
          <p:nvPr/>
        </p:nvSpPr>
        <p:spPr>
          <a:xfrm>
            <a:off x="22197841" y="37487779"/>
            <a:ext cx="6604532" cy="3293209"/>
          </a:xfrm>
          <a:prstGeom prst="rect">
            <a:avLst/>
          </a:prstGeom>
          <a:noFill/>
        </p:spPr>
        <p:txBody>
          <a:bodyPr wrap="square">
            <a:spAutoFit/>
          </a:bodyPr>
          <a:lstStyle/>
          <a:p>
            <a:r>
              <a:rPr lang="ko-KR" altLang="ko-KR" sz="1600" dirty="0">
                <a:latin typeface="페이퍼로지 6 SemiBold" pitchFamily="2" charset="-127"/>
                <a:ea typeface="페이퍼로지 6 SemiBold" pitchFamily="2" charset="-127"/>
              </a:rPr>
              <a:t>• 북행 MAE 161.0 → 131.9 (+18.1%, R² 0.593), 남행 MAE 133.8 → 92.1 (+31.2%, R² 0.411)로 두 방향 모두 기준선을 크게 상회했다.</a:t>
            </a:r>
            <a:endParaRPr lang="en-US" altLang="ko-KR" sz="1600" dirty="0">
              <a:latin typeface="페이퍼로지 6 SemiBold" pitchFamily="2" charset="-127"/>
              <a:ea typeface="페이퍼로지 6 SemiBold" pitchFamily="2" charset="-127"/>
            </a:endParaRPr>
          </a:p>
          <a:p>
            <a:endParaRPr lang="ko-KR" altLang="ko-KR" sz="1600" dirty="0">
              <a:latin typeface="페이퍼로지 6 SemiBold" pitchFamily="2" charset="-127"/>
              <a:ea typeface="페이퍼로지 6 SemiBold" pitchFamily="2" charset="-127"/>
            </a:endParaRPr>
          </a:p>
          <a:p>
            <a:r>
              <a:rPr lang="ko-KR" altLang="ko-KR" sz="1600" dirty="0">
                <a:latin typeface="페이퍼로지 6 SemiBold" pitchFamily="2" charset="-127"/>
                <a:ea typeface="페이퍼로지 6 SemiBold" pitchFamily="2" charset="-127"/>
              </a:rPr>
              <a:t>• 남행 기준선의 R²는 −0.213이다. 어제 같은 시각을 그대로 쓰는 것이 단순 평균값 예측보다도 못했다는 뜻으로, 그만큼 어려운 문제였음을 보여준다.</a:t>
            </a:r>
            <a:endParaRPr lang="en-US" altLang="ko-KR" sz="1600" dirty="0">
              <a:latin typeface="페이퍼로지 6 SemiBold" pitchFamily="2" charset="-127"/>
              <a:ea typeface="페이퍼로지 6 SemiBold" pitchFamily="2" charset="-127"/>
            </a:endParaRPr>
          </a:p>
          <a:p>
            <a:endParaRPr lang="ko-KR" altLang="ko-KR" sz="1600" dirty="0">
              <a:latin typeface="페이퍼로지 6 SemiBold" pitchFamily="2" charset="-127"/>
              <a:ea typeface="페이퍼로지 6 SemiBold" pitchFamily="2" charset="-127"/>
            </a:endParaRPr>
          </a:p>
          <a:p>
            <a:r>
              <a:rPr lang="ko-KR" altLang="ko-KR" sz="1600" dirty="0">
                <a:latin typeface="페이퍼로지 6 SemiBold" pitchFamily="2" charset="-127"/>
                <a:ea typeface="페이퍼로지 6 SemiBold" pitchFamily="2" charset="-127"/>
              </a:rPr>
              <a:t>• 남행 평가표본이 261개로 적어 부트스트랩 1,000회로 검증했다. </a:t>
            </a:r>
            <a:r>
              <a:rPr lang="ko-KR" altLang="ko-KR" sz="1600" dirty="0" err="1">
                <a:latin typeface="페이퍼로지 6 SemiBold" pitchFamily="2" charset="-127"/>
                <a:ea typeface="페이퍼로지 6 SemiBold" pitchFamily="2" charset="-127"/>
              </a:rPr>
              <a:t>개선률</a:t>
            </a:r>
            <a:r>
              <a:rPr lang="ko-KR" altLang="ko-KR" sz="1600" dirty="0">
                <a:latin typeface="페이퍼로지 6 SemiBold" pitchFamily="2" charset="-127"/>
                <a:ea typeface="페이퍼로지 6 SemiBold" pitchFamily="2" charset="-127"/>
              </a:rPr>
              <a:t> 95% 구간은 북행 10.6~25.1%, 남행 21.7~39.5%이며 </a:t>
            </a:r>
            <a:r>
              <a:rPr lang="ko-KR" altLang="ko-KR" sz="1600" dirty="0" err="1">
                <a:latin typeface="페이퍼로지 6 SemiBold" pitchFamily="2" charset="-127"/>
                <a:ea typeface="페이퍼로지 6 SemiBold" pitchFamily="2" charset="-127"/>
              </a:rPr>
              <a:t>개선률이</a:t>
            </a:r>
            <a:r>
              <a:rPr lang="ko-KR" altLang="ko-KR" sz="1600" dirty="0">
                <a:latin typeface="페이퍼로지 6 SemiBold" pitchFamily="2" charset="-127"/>
                <a:ea typeface="페이퍼로지 6 SemiBold" pitchFamily="2" charset="-127"/>
              </a:rPr>
              <a:t> 0 이하일 확률은 0.00%였다.</a:t>
            </a:r>
            <a:endParaRPr lang="en-US" altLang="ko-KR" sz="1600" dirty="0">
              <a:latin typeface="페이퍼로지 6 SemiBold" pitchFamily="2" charset="-127"/>
              <a:ea typeface="페이퍼로지 6 SemiBold" pitchFamily="2" charset="-127"/>
            </a:endParaRPr>
          </a:p>
          <a:p>
            <a:endParaRPr lang="ko-KR" altLang="ko-KR" sz="1600" dirty="0">
              <a:latin typeface="페이퍼로지 6 SemiBold" pitchFamily="2" charset="-127"/>
              <a:ea typeface="페이퍼로지 6 SemiBold" pitchFamily="2" charset="-127"/>
            </a:endParaRPr>
          </a:p>
          <a:p>
            <a:r>
              <a:rPr lang="ko-KR" altLang="ko-KR" sz="1600" dirty="0">
                <a:latin typeface="페이퍼로지 6 SemiBold" pitchFamily="2" charset="-127"/>
                <a:ea typeface="페이퍼로지 6 SemiBold" pitchFamily="2" charset="-127"/>
              </a:rPr>
              <a:t>• 동일 모델의 채점 범위만 24시간에서 출퇴근 6시간으로 바꾸자 R²가 0.674에서 0.384로 떨어졌다. 이전 분석의 높은 성능이 평가 범위가 만든 착시였음을 같은 데이터로 재현해 입증했다.</a:t>
            </a:r>
          </a:p>
        </p:txBody>
      </p:sp>
      <p:sp>
        <p:nvSpPr>
          <p:cNvPr id="103" name="사각형: 둥근 모서리 102">
            <a:extLst>
              <a:ext uri="{FF2B5EF4-FFF2-40B4-BE49-F238E27FC236}">
                <a16:creationId xmlns:a16="http://schemas.microsoft.com/office/drawing/2014/main" id="{6F28776A-643B-E7F5-BE85-3B3CCB03EC98}"/>
              </a:ext>
            </a:extLst>
          </p:cNvPr>
          <p:cNvSpPr/>
          <p:nvPr/>
        </p:nvSpPr>
        <p:spPr>
          <a:xfrm>
            <a:off x="15124139" y="20996206"/>
            <a:ext cx="5304418" cy="1002928"/>
          </a:xfrm>
          <a:prstGeom prst="roundRect">
            <a:avLst>
              <a:gd name="adj" fmla="val 8287"/>
            </a:avLst>
          </a:prstGeom>
          <a:solidFill>
            <a:srgbClr val="1D459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600">
                <a:solidFill>
                  <a:schemeClr val="bg1"/>
                </a:solidFill>
                <a:latin typeface="페이퍼로지 5 Medium" pitchFamily="2" charset="-127"/>
                <a:ea typeface="페이퍼로지 5 Medium" pitchFamily="2" charset="-127"/>
              </a:rPr>
              <a:t>전처리 선택</a:t>
            </a:r>
            <a:endParaRPr lang="ko-KR" altLang="en-US" sz="3600" dirty="0">
              <a:solidFill>
                <a:schemeClr val="bg1"/>
              </a:solidFill>
              <a:latin typeface="페이퍼로지 5 Medium" pitchFamily="2" charset="-127"/>
              <a:ea typeface="페이퍼로지 5 Medium" pitchFamily="2" charset="-127"/>
            </a:endParaRPr>
          </a:p>
        </p:txBody>
      </p:sp>
      <p:pic>
        <p:nvPicPr>
          <p:cNvPr id="107" name="그림 106">
            <a:extLst>
              <a:ext uri="{FF2B5EF4-FFF2-40B4-BE49-F238E27FC236}">
                <a16:creationId xmlns:a16="http://schemas.microsoft.com/office/drawing/2014/main" id="{D5FCCD27-1A76-BEB4-21FB-B7CA2CE5B725}"/>
              </a:ext>
            </a:extLst>
          </p:cNvPr>
          <p:cNvPicPr>
            <a:picLocks noChangeAspect="1"/>
          </p:cNvPicPr>
          <p:nvPr/>
        </p:nvPicPr>
        <p:blipFill>
          <a:blip r:embed="rId9"/>
          <a:stretch>
            <a:fillRect/>
          </a:stretch>
        </p:blipFill>
        <p:spPr>
          <a:xfrm>
            <a:off x="15108853" y="22172213"/>
            <a:ext cx="6194355" cy="5208278"/>
          </a:xfrm>
          <a:prstGeom prst="rect">
            <a:avLst/>
          </a:prstGeom>
        </p:spPr>
      </p:pic>
      <p:grpSp>
        <p:nvGrpSpPr>
          <p:cNvPr id="112" name="그룹 111">
            <a:extLst>
              <a:ext uri="{FF2B5EF4-FFF2-40B4-BE49-F238E27FC236}">
                <a16:creationId xmlns:a16="http://schemas.microsoft.com/office/drawing/2014/main" id="{166FC418-6566-BB51-9D5E-DF12C480058E}"/>
              </a:ext>
            </a:extLst>
          </p:cNvPr>
          <p:cNvGrpSpPr/>
          <p:nvPr/>
        </p:nvGrpSpPr>
        <p:grpSpPr>
          <a:xfrm>
            <a:off x="21745246" y="22242969"/>
            <a:ext cx="6873837" cy="5238257"/>
            <a:chOff x="21331961" y="24399248"/>
            <a:chExt cx="7718158" cy="5493802"/>
          </a:xfrm>
        </p:grpSpPr>
        <p:pic>
          <p:nvPicPr>
            <p:cNvPr id="109" name="그림 108">
              <a:extLst>
                <a:ext uri="{FF2B5EF4-FFF2-40B4-BE49-F238E27FC236}">
                  <a16:creationId xmlns:a16="http://schemas.microsoft.com/office/drawing/2014/main" id="{CCCB3849-4271-D984-4824-92BCE5436AE6}"/>
                </a:ext>
              </a:extLst>
            </p:cNvPr>
            <p:cNvPicPr>
              <a:picLocks noChangeAspect="1"/>
            </p:cNvPicPr>
            <p:nvPr/>
          </p:nvPicPr>
          <p:blipFill>
            <a:blip r:embed="rId10"/>
            <a:stretch>
              <a:fillRect/>
            </a:stretch>
          </p:blipFill>
          <p:spPr>
            <a:xfrm>
              <a:off x="21426559" y="24399248"/>
              <a:ext cx="7623560" cy="2627243"/>
            </a:xfrm>
            <a:prstGeom prst="rect">
              <a:avLst/>
            </a:prstGeom>
          </p:spPr>
        </p:pic>
        <p:pic>
          <p:nvPicPr>
            <p:cNvPr id="111" name="그림 110">
              <a:extLst>
                <a:ext uri="{FF2B5EF4-FFF2-40B4-BE49-F238E27FC236}">
                  <a16:creationId xmlns:a16="http://schemas.microsoft.com/office/drawing/2014/main" id="{348A5C17-3986-6CAE-8AB8-BF51DAE94B54}"/>
                </a:ext>
              </a:extLst>
            </p:cNvPr>
            <p:cNvPicPr>
              <a:picLocks noChangeAspect="1"/>
            </p:cNvPicPr>
            <p:nvPr/>
          </p:nvPicPr>
          <p:blipFill>
            <a:blip r:embed="rId11"/>
            <a:stretch>
              <a:fillRect/>
            </a:stretch>
          </p:blipFill>
          <p:spPr>
            <a:xfrm>
              <a:off x="21331961" y="27240502"/>
              <a:ext cx="7696611" cy="2652548"/>
            </a:xfrm>
            <a:prstGeom prst="rect">
              <a:avLst/>
            </a:prstGeom>
          </p:spPr>
        </p:pic>
      </p:grpSp>
      <p:sp>
        <p:nvSpPr>
          <p:cNvPr id="114" name="TextBox 113">
            <a:extLst>
              <a:ext uri="{FF2B5EF4-FFF2-40B4-BE49-F238E27FC236}">
                <a16:creationId xmlns:a16="http://schemas.microsoft.com/office/drawing/2014/main" id="{8867EC24-7D2F-8425-0D72-3E7ED29A92D4}"/>
              </a:ext>
            </a:extLst>
          </p:cNvPr>
          <p:cNvSpPr txBox="1"/>
          <p:nvPr/>
        </p:nvSpPr>
        <p:spPr>
          <a:xfrm>
            <a:off x="15416290" y="27405643"/>
            <a:ext cx="13705115" cy="830997"/>
          </a:xfrm>
          <a:prstGeom prst="rect">
            <a:avLst/>
          </a:prstGeom>
          <a:noFill/>
        </p:spPr>
        <p:txBody>
          <a:bodyPr wrap="square">
            <a:spAutoFit/>
          </a:bodyPr>
          <a:lstStyle/>
          <a:p>
            <a:r>
              <a:rPr lang="ko-KR" altLang="en-US" sz="2400" b="1" i="0" dirty="0">
                <a:effectLst/>
                <a:latin typeface="페이퍼로지 6 SemiBold" pitchFamily="2" charset="-127"/>
                <a:ea typeface="페이퍼로지 6 SemiBold" pitchFamily="2" charset="-127"/>
              </a:rPr>
              <a:t>IQR 적용 시 MAE는 개선되나 평가표본이 줄고 R²는 두 방향 모두 악화되는 모순이 재현되었다.</a:t>
            </a:r>
          </a:p>
          <a:p>
            <a:r>
              <a:rPr lang="ko-KR" altLang="en-US" sz="2400" b="1" dirty="0">
                <a:latin typeface="페이퍼로지 6 SemiBold" pitchFamily="2" charset="-127"/>
                <a:ea typeface="페이퍼로지 6 SemiBold" pitchFamily="2" charset="-127"/>
              </a:rPr>
              <a:t>표본을 유지하는 방식 중, 평소값을 타깃에서 빼지 않고 피처로 제공하는 ⑦에 윈저화를 결합한 ⑧을 채택했다.</a:t>
            </a:r>
          </a:p>
        </p:txBody>
      </p:sp>
      <p:sp>
        <p:nvSpPr>
          <p:cNvPr id="18" name="TextBox 17">
            <a:extLst>
              <a:ext uri="{FF2B5EF4-FFF2-40B4-BE49-F238E27FC236}">
                <a16:creationId xmlns:a16="http://schemas.microsoft.com/office/drawing/2014/main" id="{780184C8-C006-FE12-38AD-739590F43A8D}"/>
              </a:ext>
            </a:extLst>
          </p:cNvPr>
          <p:cNvSpPr txBox="1"/>
          <p:nvPr/>
        </p:nvSpPr>
        <p:spPr>
          <a:xfrm>
            <a:off x="15097180" y="37660595"/>
            <a:ext cx="6732316" cy="2862322"/>
          </a:xfrm>
          <a:prstGeom prst="rect">
            <a:avLst/>
          </a:prstGeom>
          <a:noFill/>
        </p:spPr>
        <p:txBody>
          <a:bodyPr wrap="square">
            <a:spAutoFit/>
          </a:bodyPr>
          <a:lstStyle/>
          <a:p>
            <a:pPr marL="342900" indent="-342900" algn="l" rtl="0">
              <a:buFont typeface="Arial" panose="020B0604020202020204" pitchFamily="34" charset="0"/>
              <a:buChar char="•"/>
            </a:pPr>
            <a:r>
              <a:rPr lang="ko-KR" altLang="en-US" sz="2000" b="1" i="0" dirty="0" err="1">
                <a:solidFill>
                  <a:srgbClr val="191919"/>
                </a:solidFill>
                <a:effectLst/>
                <a:latin typeface="페이퍼로지 6 SemiBold" pitchFamily="2" charset="-127"/>
                <a:ea typeface="페이퍼로지 6 SemiBold" pitchFamily="2" charset="-127"/>
              </a:rPr>
              <a:t>선형·트리·앙상블·거리·커널·신경망</a:t>
            </a:r>
            <a:r>
              <a:rPr lang="ko-KR" altLang="en-US" sz="2000" b="1" i="0" dirty="0">
                <a:solidFill>
                  <a:srgbClr val="191919"/>
                </a:solidFill>
                <a:effectLst/>
                <a:latin typeface="페이퍼로지 6 SemiBold" pitchFamily="2" charset="-127"/>
                <a:ea typeface="페이퍼로지 6 SemiBold" pitchFamily="2" charset="-127"/>
              </a:rPr>
              <a:t> 6개 계열 14종을 비교했다.</a:t>
            </a:r>
            <a:endParaRPr lang="en-US" altLang="ko-KR" sz="2000" b="1" i="0" dirty="0">
              <a:solidFill>
                <a:srgbClr val="191919"/>
              </a:solidFill>
              <a:effectLst/>
              <a:latin typeface="페이퍼로지 6 SemiBold" pitchFamily="2" charset="-127"/>
              <a:ea typeface="페이퍼로지 6 SemiBold" pitchFamily="2" charset="-127"/>
            </a:endParaRPr>
          </a:p>
          <a:p>
            <a:pPr marL="342900" indent="-342900" algn="l" rtl="0">
              <a:buFont typeface="Arial" panose="020B0604020202020204" pitchFamily="34" charset="0"/>
              <a:buChar char="•"/>
            </a:pPr>
            <a:endParaRPr lang="ko-KR" altLang="en-US" sz="2000" dirty="0">
              <a:effectLst/>
              <a:latin typeface="페이퍼로지 6 SemiBold" pitchFamily="2" charset="-127"/>
              <a:ea typeface="페이퍼로지 6 SemiBold" pitchFamily="2" charset="-127"/>
            </a:endParaRPr>
          </a:p>
          <a:p>
            <a:pPr marL="342900" indent="-342900" algn="l" rtl="0">
              <a:buFont typeface="Arial" panose="020B0604020202020204" pitchFamily="34" charset="0"/>
              <a:buChar char="•"/>
            </a:pPr>
            <a:r>
              <a:rPr lang="ko-KR" altLang="en-US" sz="2000" b="1" i="0" dirty="0">
                <a:solidFill>
                  <a:srgbClr val="191919"/>
                </a:solidFill>
                <a:effectLst/>
                <a:latin typeface="페이퍼로지 6 SemiBold" pitchFamily="2" charset="-127"/>
                <a:ea typeface="페이퍼로지 6 SemiBold" pitchFamily="2" charset="-127"/>
              </a:rPr>
              <a:t>1위 모델과 채택 모델의 격차는 전체 개선폭의 2.5~9.1%에 불과했다. 나머지 90% 이상은 품질 진단·기준선·누수 차단·전처리에서 나왔다.</a:t>
            </a:r>
            <a:endParaRPr lang="en-US" altLang="ko-KR" sz="2000" b="1" i="0" dirty="0">
              <a:solidFill>
                <a:srgbClr val="191919"/>
              </a:solidFill>
              <a:effectLst/>
              <a:latin typeface="페이퍼로지 6 SemiBold" pitchFamily="2" charset="-127"/>
              <a:ea typeface="페이퍼로지 6 SemiBold" pitchFamily="2" charset="-127"/>
            </a:endParaRPr>
          </a:p>
          <a:p>
            <a:pPr marL="342900" indent="-342900" algn="l" rtl="0">
              <a:buFont typeface="Arial" panose="020B0604020202020204" pitchFamily="34" charset="0"/>
              <a:buChar char="•"/>
            </a:pPr>
            <a:endParaRPr lang="ko-KR" altLang="en-US" sz="2000" dirty="0">
              <a:effectLst/>
              <a:latin typeface="페이퍼로지 6 SemiBold" pitchFamily="2" charset="-127"/>
              <a:ea typeface="페이퍼로지 6 SemiBold" pitchFamily="2" charset="-127"/>
            </a:endParaRPr>
          </a:p>
          <a:p>
            <a:pPr marL="342900" indent="-342900" algn="l" rtl="0">
              <a:buFont typeface="Arial" panose="020B0604020202020204" pitchFamily="34" charset="0"/>
              <a:buChar char="•"/>
            </a:pPr>
            <a:r>
              <a:rPr lang="ko-KR" altLang="en-US" sz="2000" b="1" i="0" dirty="0" err="1">
                <a:solidFill>
                  <a:srgbClr val="191919"/>
                </a:solidFill>
                <a:effectLst/>
                <a:latin typeface="페이퍼로지 6 SemiBold" pitchFamily="2" charset="-127"/>
                <a:ea typeface="페이퍼로지 6 SemiBold" pitchFamily="2" charset="-127"/>
              </a:rPr>
              <a:t>RandomForest는</a:t>
            </a:r>
            <a:r>
              <a:rPr lang="ko-KR" altLang="en-US" sz="2000" b="1" i="0" dirty="0">
                <a:solidFill>
                  <a:srgbClr val="191919"/>
                </a:solidFill>
                <a:effectLst/>
                <a:latin typeface="페이퍼로지 6 SemiBold" pitchFamily="2" charset="-127"/>
                <a:ea typeface="페이퍼로지 6 SemiBold" pitchFamily="2" charset="-127"/>
              </a:rPr>
              <a:t> 최고 성능이 아니라 상위권이면서 변수 중요도를 제공한다는 기준으로 채택했다.</a:t>
            </a:r>
            <a:endParaRPr lang="ko-KR" altLang="en-US" sz="2000" dirty="0">
              <a:effectLst/>
              <a:latin typeface="페이퍼로지 6 SemiBold" pitchFamily="2" charset="-127"/>
              <a:ea typeface="페이퍼로지 6 SemiBold" pitchFamily="2" charset="-127"/>
            </a:endParaRPr>
          </a:p>
        </p:txBody>
      </p:sp>
      <p:sp>
        <p:nvSpPr>
          <p:cNvPr id="20" name="TextBox 19">
            <a:extLst>
              <a:ext uri="{FF2B5EF4-FFF2-40B4-BE49-F238E27FC236}">
                <a16:creationId xmlns:a16="http://schemas.microsoft.com/office/drawing/2014/main" id="{0E86E55C-3E01-0D86-C42D-CDA7EC9B873E}"/>
              </a:ext>
            </a:extLst>
          </p:cNvPr>
          <p:cNvSpPr txBox="1"/>
          <p:nvPr/>
        </p:nvSpPr>
        <p:spPr>
          <a:xfrm>
            <a:off x="1929089" y="14280432"/>
            <a:ext cx="10816954" cy="830997"/>
          </a:xfrm>
          <a:prstGeom prst="rect">
            <a:avLst/>
          </a:prstGeom>
          <a:noFill/>
        </p:spPr>
        <p:txBody>
          <a:bodyPr wrap="square" rtlCol="0">
            <a:spAutoFit/>
          </a:bodyPr>
          <a:lstStyle/>
          <a:p>
            <a:pPr algn="just"/>
            <a:r>
              <a:rPr lang="en-US" altLang="ko-KR" sz="2400" b="1" dirty="0" err="1">
                <a:solidFill>
                  <a:srgbClr val="000000"/>
                </a:solidFill>
                <a:latin typeface="페이퍼로지 6 SemiBold" pitchFamily="2" charset="-127"/>
                <a:ea typeface="페이퍼로지 6 SemiBold" pitchFamily="2" charset="-127"/>
              </a:rPr>
              <a:t>학습이</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필요</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없는</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단순</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규칙</a:t>
            </a:r>
            <a:r>
              <a:rPr lang="en-US" altLang="ko-KR" sz="2400" b="1" dirty="0">
                <a:solidFill>
                  <a:srgbClr val="000000"/>
                </a:solidFill>
                <a:latin typeface="페이퍼로지 6 SemiBold" pitchFamily="2" charset="-127"/>
                <a:ea typeface="페이퍼로지 6 SemiBold" pitchFamily="2" charset="-127"/>
              </a:rPr>
              <a:t> 4종을 </a:t>
            </a:r>
            <a:r>
              <a:rPr lang="en-US" altLang="ko-KR" sz="2400" b="1" dirty="0" err="1">
                <a:solidFill>
                  <a:srgbClr val="000000"/>
                </a:solidFill>
                <a:latin typeface="페이퍼로지 6 SemiBold" pitchFamily="2" charset="-127"/>
                <a:ea typeface="페이퍼로지 6 SemiBold" pitchFamily="2" charset="-127"/>
              </a:rPr>
              <a:t>먼저</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만들어</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절대</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성능이</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아닌</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기준선</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대비</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개선률로</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평가</a:t>
            </a:r>
            <a:endParaRPr lang="en-US" altLang="ko-KR" sz="2400" b="1" dirty="0">
              <a:solidFill>
                <a:srgbClr val="000000"/>
              </a:solidFill>
              <a:latin typeface="페이퍼로지 6 SemiBold" pitchFamily="2" charset="-127"/>
              <a:ea typeface="페이퍼로지 6 SemiBold" pitchFamily="2" charset="-127"/>
            </a:endParaRPr>
          </a:p>
        </p:txBody>
      </p:sp>
      <p:sp>
        <p:nvSpPr>
          <p:cNvPr id="21" name="TextBox 20">
            <a:extLst>
              <a:ext uri="{FF2B5EF4-FFF2-40B4-BE49-F238E27FC236}">
                <a16:creationId xmlns:a16="http://schemas.microsoft.com/office/drawing/2014/main" id="{FDC2A3C3-8C3A-B44D-60FE-46E68E8F24FB}"/>
              </a:ext>
            </a:extLst>
          </p:cNvPr>
          <p:cNvSpPr txBox="1"/>
          <p:nvPr/>
        </p:nvSpPr>
        <p:spPr>
          <a:xfrm>
            <a:off x="1929089" y="16427962"/>
            <a:ext cx="10816953" cy="830997"/>
          </a:xfrm>
          <a:prstGeom prst="rect">
            <a:avLst/>
          </a:prstGeom>
          <a:noFill/>
        </p:spPr>
        <p:txBody>
          <a:bodyPr wrap="square" rtlCol="0">
            <a:spAutoFit/>
          </a:bodyPr>
          <a:lstStyle/>
          <a:p>
            <a:pPr algn="just"/>
            <a:r>
              <a:rPr lang="en-US" altLang="ko-KR" sz="2400" b="1" dirty="0" err="1">
                <a:solidFill>
                  <a:srgbClr val="000000"/>
                </a:solidFill>
                <a:latin typeface="페이퍼로지 6 SemiBold" pitchFamily="2" charset="-127"/>
                <a:ea typeface="페이퍼로지 6 SemiBold" pitchFamily="2" charset="-127"/>
              </a:rPr>
              <a:t>전처리</a:t>
            </a:r>
            <a:r>
              <a:rPr lang="en-US" altLang="ko-KR" sz="2400" b="1" dirty="0">
                <a:solidFill>
                  <a:srgbClr val="000000"/>
                </a:solidFill>
                <a:latin typeface="페이퍼로지 6 SemiBold" pitchFamily="2" charset="-127"/>
                <a:ea typeface="페이퍼로지 6 SemiBold" pitchFamily="2" charset="-127"/>
              </a:rPr>
              <a:t> 8종과 </a:t>
            </a:r>
            <a:r>
              <a:rPr lang="en-US" altLang="ko-KR" sz="2400" b="1" dirty="0" err="1">
                <a:solidFill>
                  <a:srgbClr val="000000"/>
                </a:solidFill>
                <a:latin typeface="페이퍼로지 6 SemiBold" pitchFamily="2" charset="-127"/>
                <a:ea typeface="페이퍼로지 6 SemiBold" pitchFamily="2" charset="-127"/>
              </a:rPr>
              <a:t>모델</a:t>
            </a:r>
            <a:r>
              <a:rPr lang="en-US" altLang="ko-KR" sz="2400" b="1" dirty="0">
                <a:solidFill>
                  <a:srgbClr val="000000"/>
                </a:solidFill>
                <a:latin typeface="페이퍼로지 6 SemiBold" pitchFamily="2" charset="-127"/>
                <a:ea typeface="페이퍼로지 6 SemiBold" pitchFamily="2" charset="-127"/>
              </a:rPr>
              <a:t> 14종을 </a:t>
            </a:r>
            <a:r>
              <a:rPr lang="en-US" altLang="ko-KR" sz="2400" b="1" dirty="0" err="1">
                <a:solidFill>
                  <a:srgbClr val="000000"/>
                </a:solidFill>
                <a:latin typeface="페이퍼로지 6 SemiBold" pitchFamily="2" charset="-127"/>
                <a:ea typeface="페이퍼로지 6 SemiBold" pitchFamily="2" charset="-127"/>
              </a:rPr>
              <a:t>동일</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조건에서</a:t>
            </a:r>
            <a:r>
              <a:rPr lang="en-US" altLang="ko-KR" sz="2400" b="1" dirty="0">
                <a:solidFill>
                  <a:srgbClr val="000000"/>
                </a:solidFill>
                <a:latin typeface="페이퍼로지 6 SemiBold" pitchFamily="2" charset="-127"/>
                <a:ea typeface="페이퍼로지 6 SemiBold" pitchFamily="2" charset="-127"/>
              </a:rPr>
              <a:t> </a:t>
            </a:r>
            <a:r>
              <a:rPr lang="en-US" altLang="ko-KR" sz="2400" b="1" dirty="0" err="1">
                <a:solidFill>
                  <a:srgbClr val="000000"/>
                </a:solidFill>
                <a:latin typeface="페이퍼로지 6 SemiBold" pitchFamily="2" charset="-127"/>
                <a:ea typeface="페이퍼로지 6 SemiBold" pitchFamily="2" charset="-127"/>
              </a:rPr>
              <a:t>비교하고</a:t>
            </a:r>
            <a:r>
              <a:rPr lang="en-US" altLang="ko-KR" sz="2400" b="1" dirty="0">
                <a:solidFill>
                  <a:srgbClr val="000000"/>
                </a:solidFill>
                <a:latin typeface="페이퍼로지 6 SemiBold" pitchFamily="2" charset="-127"/>
                <a:ea typeface="페이퍼로지 6 SemiBold" pitchFamily="2" charset="-127"/>
              </a:rPr>
              <a:t>,</a:t>
            </a:r>
            <a:r>
              <a:rPr lang="ko-KR" altLang="en-US" sz="2400" dirty="0">
                <a:latin typeface="페이퍼로지 6 SemiBold" pitchFamily="2" charset="-127"/>
                <a:ea typeface="페이퍼로지 6 SemiBold" pitchFamily="2" charset="-127"/>
              </a:rPr>
              <a:t> </a:t>
            </a:r>
            <a:r>
              <a:rPr lang="ko-KR" altLang="en-US" sz="2400" b="1" dirty="0">
                <a:solidFill>
                  <a:srgbClr val="000000"/>
                </a:solidFill>
                <a:latin typeface="페이퍼로지 6 SemiBold" pitchFamily="2" charset="-127"/>
                <a:ea typeface="페이퍼로지 6 SemiBold" pitchFamily="2" charset="-127"/>
              </a:rPr>
              <a:t>채택뿐 아니라 기각 사유까지 근거로 기록</a:t>
            </a:r>
            <a:endParaRPr lang="ko-KR" altLang="en-US" sz="2400" dirty="0"/>
          </a:p>
        </p:txBody>
      </p:sp>
      <p:sp>
        <p:nvSpPr>
          <p:cNvPr id="23" name="TextBox 22">
            <a:extLst>
              <a:ext uri="{FF2B5EF4-FFF2-40B4-BE49-F238E27FC236}">
                <a16:creationId xmlns:a16="http://schemas.microsoft.com/office/drawing/2014/main" id="{026D8B1B-F01A-101A-1872-7D735E9389BB}"/>
              </a:ext>
            </a:extLst>
          </p:cNvPr>
          <p:cNvSpPr txBox="1"/>
          <p:nvPr/>
        </p:nvSpPr>
        <p:spPr>
          <a:xfrm>
            <a:off x="1815387" y="11342992"/>
            <a:ext cx="3049460" cy="523220"/>
          </a:xfrm>
          <a:prstGeom prst="rect">
            <a:avLst/>
          </a:prstGeom>
          <a:noFill/>
        </p:spPr>
        <p:txBody>
          <a:bodyPr wrap="square" rtlCol="0">
            <a:spAutoFit/>
          </a:bodyPr>
          <a:lstStyle/>
          <a:p>
            <a:pPr algn="just"/>
            <a:r>
              <a:rPr lang="en-US" altLang="ko-KR" sz="2800" b="1" dirty="0">
                <a:solidFill>
                  <a:srgbClr val="000000"/>
                </a:solidFill>
                <a:latin typeface="페이퍼로지 6 SemiBold" pitchFamily="2" charset="-127"/>
                <a:ea typeface="페이퍼로지 6 SemiBold" pitchFamily="2" charset="-127"/>
              </a:rPr>
              <a:t>1. </a:t>
            </a:r>
            <a:r>
              <a:rPr lang="ko-KR" altLang="en-US" sz="2800" b="1" dirty="0">
                <a:solidFill>
                  <a:srgbClr val="000000"/>
                </a:solidFill>
                <a:latin typeface="페이퍼로지 6 SemiBold" pitchFamily="2" charset="-127"/>
                <a:ea typeface="페이퍼로지 6 SemiBold" pitchFamily="2" charset="-127"/>
              </a:rPr>
              <a:t>데이터 품질 진단</a:t>
            </a:r>
            <a:endParaRPr lang="en-US" altLang="ko-KR" sz="2800" b="1" dirty="0">
              <a:solidFill>
                <a:srgbClr val="000000"/>
              </a:solidFill>
              <a:latin typeface="페이퍼로지 6 SemiBold" pitchFamily="2" charset="-127"/>
              <a:ea typeface="페이퍼로지 6 SemiBold" pitchFamily="2" charset="-127"/>
            </a:endParaRPr>
          </a:p>
        </p:txBody>
      </p:sp>
      <p:sp>
        <p:nvSpPr>
          <p:cNvPr id="32" name="TextBox 31">
            <a:extLst>
              <a:ext uri="{FF2B5EF4-FFF2-40B4-BE49-F238E27FC236}">
                <a16:creationId xmlns:a16="http://schemas.microsoft.com/office/drawing/2014/main" id="{1DCF6DC0-E0AA-0164-983A-87EC3C0A24C0}"/>
              </a:ext>
            </a:extLst>
          </p:cNvPr>
          <p:cNvSpPr txBox="1"/>
          <p:nvPr/>
        </p:nvSpPr>
        <p:spPr>
          <a:xfrm>
            <a:off x="1879516" y="13585870"/>
            <a:ext cx="3420036" cy="523220"/>
          </a:xfrm>
          <a:prstGeom prst="rect">
            <a:avLst/>
          </a:prstGeom>
          <a:noFill/>
        </p:spPr>
        <p:txBody>
          <a:bodyPr wrap="square" rtlCol="0">
            <a:spAutoFit/>
          </a:bodyPr>
          <a:lstStyle/>
          <a:p>
            <a:pPr algn="just"/>
            <a:r>
              <a:rPr lang="en-US" altLang="ko-KR" sz="2800" b="1" dirty="0">
                <a:solidFill>
                  <a:srgbClr val="000000"/>
                </a:solidFill>
                <a:latin typeface="페이퍼로지 6 SemiBold" pitchFamily="2" charset="-127"/>
                <a:ea typeface="페이퍼로지 6 SemiBold" pitchFamily="2" charset="-127"/>
              </a:rPr>
              <a:t>2. </a:t>
            </a:r>
            <a:r>
              <a:rPr lang="en-US" altLang="ko-KR" sz="2800" b="1" dirty="0" err="1">
                <a:solidFill>
                  <a:srgbClr val="000000"/>
                </a:solidFill>
                <a:latin typeface="페이퍼로지 6 SemiBold" pitchFamily="2" charset="-127"/>
                <a:ea typeface="페이퍼로지 6 SemiBold" pitchFamily="2" charset="-127"/>
              </a:rPr>
              <a:t>기준선</a:t>
            </a:r>
            <a:r>
              <a:rPr lang="en-US" altLang="ko-KR" sz="2800" b="1" dirty="0">
                <a:solidFill>
                  <a:srgbClr val="000000"/>
                </a:solidFill>
                <a:latin typeface="페이퍼로지 6 SemiBold" pitchFamily="2" charset="-127"/>
                <a:ea typeface="페이퍼로지 6 SemiBold" pitchFamily="2" charset="-127"/>
              </a:rPr>
              <a:t> </a:t>
            </a:r>
            <a:r>
              <a:rPr lang="en-US" altLang="ko-KR" sz="2800" b="1" dirty="0" err="1">
                <a:solidFill>
                  <a:srgbClr val="000000"/>
                </a:solidFill>
                <a:latin typeface="페이퍼로지 6 SemiBold" pitchFamily="2" charset="-127"/>
                <a:ea typeface="페이퍼로지 6 SemiBold" pitchFamily="2" charset="-127"/>
              </a:rPr>
              <a:t>수립</a:t>
            </a:r>
            <a:endParaRPr lang="en-US" altLang="ko-KR" sz="2800" b="1" dirty="0">
              <a:solidFill>
                <a:srgbClr val="000000"/>
              </a:solidFill>
              <a:latin typeface="페이퍼로지 6 SemiBold" pitchFamily="2" charset="-127"/>
              <a:ea typeface="페이퍼로지 6 SemiBold" pitchFamily="2" charset="-127"/>
            </a:endParaRPr>
          </a:p>
        </p:txBody>
      </p:sp>
      <p:sp>
        <p:nvSpPr>
          <p:cNvPr id="33" name="TextBox 32">
            <a:extLst>
              <a:ext uri="{FF2B5EF4-FFF2-40B4-BE49-F238E27FC236}">
                <a16:creationId xmlns:a16="http://schemas.microsoft.com/office/drawing/2014/main" id="{904AA0B2-6622-A3DD-95B2-279904E5CDB2}"/>
              </a:ext>
            </a:extLst>
          </p:cNvPr>
          <p:cNvSpPr txBox="1"/>
          <p:nvPr/>
        </p:nvSpPr>
        <p:spPr>
          <a:xfrm>
            <a:off x="1917425" y="15674809"/>
            <a:ext cx="3700397" cy="523220"/>
          </a:xfrm>
          <a:prstGeom prst="rect">
            <a:avLst/>
          </a:prstGeom>
          <a:noFill/>
        </p:spPr>
        <p:txBody>
          <a:bodyPr wrap="square" rtlCol="0">
            <a:spAutoFit/>
          </a:bodyPr>
          <a:lstStyle/>
          <a:p>
            <a:r>
              <a:rPr lang="en-US" altLang="ko-KR" sz="2800" b="1" dirty="0">
                <a:solidFill>
                  <a:srgbClr val="000000"/>
                </a:solidFill>
                <a:latin typeface="페이퍼로지 6 SemiBold" pitchFamily="2" charset="-127"/>
                <a:ea typeface="페이퍼로지 6 SemiBold" pitchFamily="2" charset="-127"/>
              </a:rPr>
              <a:t>3. </a:t>
            </a:r>
            <a:r>
              <a:rPr lang="en-US" altLang="ko-KR" sz="2800" b="1" dirty="0" err="1">
                <a:solidFill>
                  <a:srgbClr val="000000"/>
                </a:solidFill>
                <a:latin typeface="페이퍼로지 6 SemiBold" pitchFamily="2" charset="-127"/>
                <a:ea typeface="페이퍼로지 6 SemiBold" pitchFamily="2" charset="-127"/>
              </a:rPr>
              <a:t>전처리·모델</a:t>
            </a:r>
            <a:r>
              <a:rPr lang="en-US" altLang="ko-KR" sz="2800" b="1" dirty="0">
                <a:solidFill>
                  <a:srgbClr val="000000"/>
                </a:solidFill>
                <a:latin typeface="페이퍼로지 6 SemiBold" pitchFamily="2" charset="-127"/>
                <a:ea typeface="페이퍼로지 6 SemiBold" pitchFamily="2" charset="-127"/>
              </a:rPr>
              <a:t> </a:t>
            </a:r>
            <a:r>
              <a:rPr lang="en-US" altLang="ko-KR" sz="2800" b="1" dirty="0" err="1">
                <a:solidFill>
                  <a:srgbClr val="000000"/>
                </a:solidFill>
                <a:latin typeface="페이퍼로지 6 SemiBold" pitchFamily="2" charset="-127"/>
                <a:ea typeface="페이퍼로지 6 SemiBold" pitchFamily="2" charset="-127"/>
              </a:rPr>
              <a:t>실측</a:t>
            </a:r>
            <a:r>
              <a:rPr lang="en-US" altLang="ko-KR" sz="2800" b="1" dirty="0">
                <a:solidFill>
                  <a:srgbClr val="000000"/>
                </a:solidFill>
                <a:latin typeface="페이퍼로지 6 SemiBold" pitchFamily="2" charset="-127"/>
                <a:ea typeface="페이퍼로지 6 SemiBold" pitchFamily="2" charset="-127"/>
              </a:rPr>
              <a:t> </a:t>
            </a:r>
            <a:r>
              <a:rPr lang="en-US" altLang="ko-KR" sz="2800" b="1" dirty="0" err="1">
                <a:solidFill>
                  <a:srgbClr val="000000"/>
                </a:solidFill>
                <a:latin typeface="페이퍼로지 6 SemiBold" pitchFamily="2" charset="-127"/>
                <a:ea typeface="페이퍼로지 6 SemiBold" pitchFamily="2" charset="-127"/>
              </a:rPr>
              <a:t>비교</a:t>
            </a:r>
            <a:endParaRPr lang="en-US" altLang="ko-KR" sz="2800" b="1" dirty="0">
              <a:solidFill>
                <a:srgbClr val="000000"/>
              </a:solidFill>
              <a:latin typeface="페이퍼로지 6 SemiBold" pitchFamily="2" charset="-127"/>
              <a:ea typeface="페이퍼로지 6 SemiBold" pitchFamily="2" charset="-127"/>
            </a:endParaRPr>
          </a:p>
        </p:txBody>
      </p:sp>
      <p:sp>
        <p:nvSpPr>
          <p:cNvPr id="34" name="TextBox 33">
            <a:extLst>
              <a:ext uri="{FF2B5EF4-FFF2-40B4-BE49-F238E27FC236}">
                <a16:creationId xmlns:a16="http://schemas.microsoft.com/office/drawing/2014/main" id="{155AA339-3B51-5C43-EA6E-55E4AC02FA09}"/>
              </a:ext>
            </a:extLst>
          </p:cNvPr>
          <p:cNvSpPr txBox="1"/>
          <p:nvPr/>
        </p:nvSpPr>
        <p:spPr>
          <a:xfrm>
            <a:off x="1917425" y="12122684"/>
            <a:ext cx="10816953" cy="830997"/>
          </a:xfrm>
          <a:prstGeom prst="rect">
            <a:avLst/>
          </a:prstGeom>
          <a:noFill/>
        </p:spPr>
        <p:txBody>
          <a:bodyPr wrap="square" rtlCol="0">
            <a:spAutoFit/>
          </a:bodyPr>
          <a:lstStyle/>
          <a:p>
            <a:r>
              <a:rPr lang="ko-KR" altLang="en-US" sz="2400" b="1" dirty="0" err="1">
                <a:solidFill>
                  <a:srgbClr val="000000"/>
                </a:solidFill>
                <a:latin typeface="페이퍼로지 6 SemiBold" pitchFamily="2" charset="-127"/>
                <a:ea typeface="페이퍼로지 6 SemiBold" pitchFamily="2" charset="-127"/>
              </a:rPr>
              <a:t>결측값</a:t>
            </a:r>
            <a:r>
              <a:rPr lang="ko-KR" altLang="en-US" sz="2400" b="1" dirty="0">
                <a:solidFill>
                  <a:srgbClr val="000000"/>
                </a:solidFill>
                <a:latin typeface="페이퍼로지 6 SemiBold" pitchFamily="2" charset="-127"/>
                <a:ea typeface="페이퍼로지 6 SemiBold" pitchFamily="2" charset="-127"/>
              </a:rPr>
              <a:t> 0건이라는 표면적 정보에 의존하지 않고, 시각 </a:t>
            </a:r>
            <a:r>
              <a:rPr lang="ko-KR" altLang="en-US" sz="2400" b="1" dirty="0" err="1">
                <a:solidFill>
                  <a:srgbClr val="000000"/>
                </a:solidFill>
                <a:latin typeface="페이퍼로지 6 SemiBold" pitchFamily="2" charset="-127"/>
                <a:ea typeface="페이퍼로지 6 SemiBold" pitchFamily="2" charset="-127"/>
              </a:rPr>
              <a:t>누락·접근로</a:t>
            </a:r>
            <a:r>
              <a:rPr lang="ko-KR" altLang="en-US" sz="2400" b="1" dirty="0">
                <a:solidFill>
                  <a:srgbClr val="000000"/>
                </a:solidFill>
                <a:latin typeface="페이퍼로지 6 SemiBold" pitchFamily="2" charset="-127"/>
                <a:ea typeface="페이퍼로지 6 SemiBold" pitchFamily="2" charset="-127"/>
              </a:rPr>
              <a:t> </a:t>
            </a:r>
            <a:r>
              <a:rPr lang="ko-KR" altLang="en-US" sz="2400" b="1" dirty="0" err="1">
                <a:solidFill>
                  <a:srgbClr val="000000"/>
                </a:solidFill>
                <a:latin typeface="페이퍼로지 6 SemiBold" pitchFamily="2" charset="-127"/>
                <a:ea typeface="페이퍼로지 6 SemiBold" pitchFamily="2" charset="-127"/>
              </a:rPr>
              <a:t>누락·총량</a:t>
            </a:r>
            <a:r>
              <a:rPr lang="ko-KR" altLang="en-US" sz="2400" b="1" dirty="0">
                <a:solidFill>
                  <a:srgbClr val="000000"/>
                </a:solidFill>
                <a:latin typeface="페이퍼로지 6 SemiBold" pitchFamily="2" charset="-127"/>
                <a:ea typeface="페이퍼로지 6 SemiBold" pitchFamily="2" charset="-127"/>
              </a:rPr>
              <a:t> </a:t>
            </a:r>
            <a:r>
              <a:rPr lang="ko-KR" altLang="en-US" sz="2400" b="1" dirty="0" err="1">
                <a:solidFill>
                  <a:srgbClr val="000000"/>
                </a:solidFill>
                <a:latin typeface="페이퍼로지 6 SemiBold" pitchFamily="2" charset="-127"/>
                <a:ea typeface="페이퍼로지 6 SemiBold" pitchFamily="2" charset="-127"/>
              </a:rPr>
              <a:t>붕괴·구성조합</a:t>
            </a:r>
            <a:r>
              <a:rPr lang="ko-KR" altLang="en-US" sz="2400" b="1" dirty="0">
                <a:solidFill>
                  <a:srgbClr val="000000"/>
                </a:solidFill>
                <a:latin typeface="페이퍼로지 6 SemiBold" pitchFamily="2" charset="-127"/>
                <a:ea typeface="페이퍼로지 6 SemiBold" pitchFamily="2" charset="-127"/>
              </a:rPr>
              <a:t> 소실의 4단계로 점검</a:t>
            </a:r>
            <a:endParaRPr lang="en-US" altLang="ko-KR" sz="2400" b="1" dirty="0">
              <a:solidFill>
                <a:srgbClr val="000000"/>
              </a:solidFill>
              <a:latin typeface="페이퍼로지 6 SemiBold" pitchFamily="2" charset="-127"/>
              <a:ea typeface="페이퍼로지 6 SemiBold" pitchFamily="2" charset="-127"/>
            </a:endParaRPr>
          </a:p>
        </p:txBody>
      </p:sp>
      <p:sp>
        <p:nvSpPr>
          <p:cNvPr id="53" name="사각형: 둥근 모서리 52">
            <a:extLst>
              <a:ext uri="{FF2B5EF4-FFF2-40B4-BE49-F238E27FC236}">
                <a16:creationId xmlns:a16="http://schemas.microsoft.com/office/drawing/2014/main" id="{D83226B2-B352-863D-C921-692F77171380}"/>
              </a:ext>
            </a:extLst>
          </p:cNvPr>
          <p:cNvSpPr/>
          <p:nvPr/>
        </p:nvSpPr>
        <p:spPr>
          <a:xfrm>
            <a:off x="1657989" y="6388662"/>
            <a:ext cx="5411862" cy="1002928"/>
          </a:xfrm>
          <a:prstGeom prst="roundRect">
            <a:avLst>
              <a:gd name="adj" fmla="val 8287"/>
            </a:avLst>
          </a:prstGeom>
          <a:solidFill>
            <a:srgbClr val="1D459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3600" dirty="0">
                <a:solidFill>
                  <a:schemeClr val="bg1"/>
                </a:solidFill>
                <a:latin typeface="페이퍼로지 5 Medium" pitchFamily="2" charset="-127"/>
                <a:ea typeface="페이퍼로지 5 Medium" pitchFamily="2" charset="-127"/>
              </a:rPr>
              <a:t>프로젝트 소개</a:t>
            </a:r>
          </a:p>
        </p:txBody>
      </p:sp>
      <p:sp>
        <p:nvSpPr>
          <p:cNvPr id="55" name="TextBox 54">
            <a:extLst>
              <a:ext uri="{FF2B5EF4-FFF2-40B4-BE49-F238E27FC236}">
                <a16:creationId xmlns:a16="http://schemas.microsoft.com/office/drawing/2014/main" id="{4189BC64-F57D-8FE7-E2DB-41509161F35B}"/>
              </a:ext>
            </a:extLst>
          </p:cNvPr>
          <p:cNvSpPr txBox="1"/>
          <p:nvPr/>
        </p:nvSpPr>
        <p:spPr>
          <a:xfrm>
            <a:off x="15137606" y="36847008"/>
            <a:ext cx="2942783" cy="461665"/>
          </a:xfrm>
          <a:prstGeom prst="rect">
            <a:avLst/>
          </a:prstGeom>
          <a:noFill/>
        </p:spPr>
        <p:txBody>
          <a:bodyPr wrap="square" rtlCol="0">
            <a:spAutoFit/>
          </a:bodyPr>
          <a:lstStyle/>
          <a:p>
            <a:r>
              <a:rPr lang="ko-KR" altLang="en-US" sz="2400" b="1" dirty="0">
                <a:solidFill>
                  <a:srgbClr val="191919"/>
                </a:solidFill>
                <a:latin typeface="페이퍼로지 6 SemiBold" pitchFamily="2" charset="-127"/>
                <a:ea typeface="페이퍼로지 6 SemiBold" pitchFamily="2" charset="-127"/>
              </a:rPr>
              <a:t>모델 비교와 선정 근거</a:t>
            </a:r>
            <a:endParaRPr lang="ko-KR" altLang="en-US" sz="2400" dirty="0">
              <a:latin typeface="페이퍼로지 6 SemiBold" pitchFamily="2" charset="-127"/>
              <a:ea typeface="페이퍼로지 6 SemiBold" pitchFamily="2" charset="-127"/>
            </a:endParaRPr>
          </a:p>
        </p:txBody>
      </p:sp>
      <p:sp>
        <p:nvSpPr>
          <p:cNvPr id="57" name="TextBox 56">
            <a:extLst>
              <a:ext uri="{FF2B5EF4-FFF2-40B4-BE49-F238E27FC236}">
                <a16:creationId xmlns:a16="http://schemas.microsoft.com/office/drawing/2014/main" id="{0685BAD5-AD15-9E62-30C5-9546F6DD33BD}"/>
              </a:ext>
            </a:extLst>
          </p:cNvPr>
          <p:cNvSpPr txBox="1"/>
          <p:nvPr/>
        </p:nvSpPr>
        <p:spPr>
          <a:xfrm>
            <a:off x="22092190" y="36807858"/>
            <a:ext cx="2347266" cy="461665"/>
          </a:xfrm>
          <a:prstGeom prst="rect">
            <a:avLst/>
          </a:prstGeom>
          <a:noFill/>
        </p:spPr>
        <p:txBody>
          <a:bodyPr wrap="square" rtlCol="0">
            <a:spAutoFit/>
          </a:bodyPr>
          <a:lstStyle/>
          <a:p>
            <a:r>
              <a:rPr lang="ko-KR" altLang="en-US" sz="2400" b="1" dirty="0">
                <a:solidFill>
                  <a:srgbClr val="191919"/>
                </a:solidFill>
                <a:latin typeface="페이퍼로지 6 SemiBold" pitchFamily="2" charset="-127"/>
                <a:ea typeface="페이퍼로지 6 SemiBold" pitchFamily="2" charset="-127"/>
              </a:rPr>
              <a:t>최종 성능과 의의</a:t>
            </a:r>
            <a:endParaRPr lang="en-US" altLang="ko-KR" sz="2400" dirty="0">
              <a:latin typeface="페이퍼로지 6 SemiBold" pitchFamily="2" charset="-127"/>
              <a:ea typeface="페이퍼로지 6 SemiBold" pitchFamily="2" charset="-127"/>
            </a:endParaRPr>
          </a:p>
        </p:txBody>
      </p:sp>
      <p:sp>
        <p:nvSpPr>
          <p:cNvPr id="3" name="TextBox 2">
            <a:extLst>
              <a:ext uri="{FF2B5EF4-FFF2-40B4-BE49-F238E27FC236}">
                <a16:creationId xmlns:a16="http://schemas.microsoft.com/office/drawing/2014/main" id="{6918D768-BEBC-DE2E-8D28-147443110977}"/>
              </a:ext>
            </a:extLst>
          </p:cNvPr>
          <p:cNvSpPr txBox="1"/>
          <p:nvPr/>
        </p:nvSpPr>
        <p:spPr>
          <a:xfrm>
            <a:off x="15137606" y="19443032"/>
            <a:ext cx="13481477" cy="1107996"/>
          </a:xfrm>
          <a:prstGeom prst="rect">
            <a:avLst/>
          </a:prstGeom>
          <a:noFill/>
        </p:spPr>
        <p:txBody>
          <a:bodyPr wrap="square" rtlCol="0">
            <a:spAutoFit/>
          </a:bodyPr>
          <a:lstStyle/>
          <a:p>
            <a:r>
              <a:rPr lang="ko-KR" altLang="ko-KR" sz="2200" dirty="0" err="1">
                <a:latin typeface="페이퍼로지 6 SemiBold" pitchFamily="2" charset="-127"/>
                <a:ea typeface="페이퍼로지 6 SemiBold" pitchFamily="2" charset="-127"/>
              </a:rPr>
              <a:t>Loss_NB</a:t>
            </a:r>
            <a:r>
              <a:rPr lang="ko-KR" altLang="ko-KR" sz="2200" dirty="0">
                <a:latin typeface="페이퍼로지 6 SemiBold" pitchFamily="2" charset="-127"/>
                <a:ea typeface="페이퍼로지 6 SemiBold" pitchFamily="2" charset="-127"/>
              </a:rPr>
              <a:t>(</a:t>
            </a:r>
            <a:r>
              <a:rPr lang="ko-KR" altLang="ko-KR" sz="2200" dirty="0" err="1">
                <a:latin typeface="페이퍼로지 6 SemiBold" pitchFamily="2" charset="-127"/>
                <a:ea typeface="페이퍼로지 6 SemiBold" pitchFamily="2" charset="-127"/>
              </a:rPr>
              <a:t>t</a:t>
            </a:r>
            <a:r>
              <a:rPr lang="ko-KR" altLang="ko-KR" sz="2200" dirty="0">
                <a:latin typeface="페이퍼로지 6 SemiBold" pitchFamily="2" charset="-127"/>
                <a:ea typeface="페이퍼로지 6 SemiBold" pitchFamily="2" charset="-127"/>
              </a:rPr>
              <a:t>) = [</a:t>
            </a:r>
            <a:r>
              <a:rPr lang="ko-KR" altLang="ko-KR" sz="2200" dirty="0" err="1">
                <a:latin typeface="페이퍼로지 6 SemiBold" pitchFamily="2" charset="-127"/>
                <a:ea typeface="페이퍼로지 6 SemiBold" pitchFamily="2" charset="-127"/>
              </a:rPr>
              <a:t>동막교</a:t>
            </a:r>
            <a:r>
              <a:rPr lang="ko-KR" altLang="en-US" sz="2200" dirty="0" err="1">
                <a:latin typeface="페이퍼로지 6 SemiBold" pitchFamily="2" charset="-127"/>
                <a:ea typeface="페이퍼로지 6 SemiBold" pitchFamily="2" charset="-127"/>
              </a:rPr>
              <a:t>사거리</a:t>
            </a:r>
            <a:r>
              <a:rPr lang="ko-KR" altLang="ko-KR" sz="2200" dirty="0">
                <a:latin typeface="페이퍼로지 6 SemiBold" pitchFamily="2" charset="-127"/>
                <a:ea typeface="페이퍼로지 6 SemiBold" pitchFamily="2" charset="-127"/>
              </a:rPr>
              <a:t> 북측</a:t>
            </a:r>
            <a:r>
              <a:rPr lang="ko-KR" altLang="en-US" sz="2200" dirty="0">
                <a:latin typeface="페이퍼로지 6 SemiBold" pitchFamily="2" charset="-127"/>
                <a:ea typeface="페이퍼로지 6 SemiBold" pitchFamily="2" charset="-127"/>
              </a:rPr>
              <a:t>으</a:t>
            </a:r>
            <a:r>
              <a:rPr lang="ko-KR" altLang="ko-KR" sz="2200" dirty="0">
                <a:latin typeface="페이퍼로지 6 SemiBold" pitchFamily="2" charset="-127"/>
                <a:ea typeface="페이퍼로지 6 SemiBold" pitchFamily="2" charset="-127"/>
              </a:rPr>
              <a:t>로 진출한 교통량 합] − [</a:t>
            </a:r>
            <a:r>
              <a:rPr lang="ko-KR" altLang="ko-KR" sz="2200" dirty="0" err="1">
                <a:latin typeface="페이퍼로지 6 SemiBold" pitchFamily="2" charset="-127"/>
                <a:ea typeface="페이퍼로지 6 SemiBold" pitchFamily="2" charset="-127"/>
              </a:rPr>
              <a:t>미금역</a:t>
            </a:r>
            <a:r>
              <a:rPr lang="ko-KR" altLang="en-US" sz="2200" dirty="0" err="1">
                <a:latin typeface="페이퍼로지 6 SemiBold" pitchFamily="2" charset="-127"/>
                <a:ea typeface="페이퍼로지 6 SemiBold" pitchFamily="2" charset="-127"/>
              </a:rPr>
              <a:t>사거리</a:t>
            </a:r>
            <a:r>
              <a:rPr lang="ko-KR" altLang="ko-KR" sz="2200" dirty="0">
                <a:latin typeface="페이퍼로지 6 SemiBold" pitchFamily="2" charset="-127"/>
                <a:ea typeface="페이퍼로지 6 SemiBold" pitchFamily="2" charset="-127"/>
              </a:rPr>
              <a:t> 남측 접근로로 진입한 교통량 합]</a:t>
            </a:r>
            <a:r>
              <a:rPr lang="ko-KR" altLang="ko-KR" sz="2200" dirty="0" err="1">
                <a:latin typeface="페이퍼로지 6 SemiBold" pitchFamily="2" charset="-127"/>
                <a:ea typeface="페이퍼로지 6 SemiBold" pitchFamily="2" charset="-127"/>
              </a:rPr>
              <a:t>Loss_SB</a:t>
            </a:r>
            <a:r>
              <a:rPr lang="ko-KR" altLang="ko-KR" sz="2200" dirty="0">
                <a:latin typeface="페이퍼로지 6 SemiBold" pitchFamily="2" charset="-127"/>
                <a:ea typeface="페이퍼로지 6 SemiBold" pitchFamily="2" charset="-127"/>
              </a:rPr>
              <a:t>(</a:t>
            </a:r>
            <a:r>
              <a:rPr lang="ko-KR" altLang="ko-KR" sz="2200" dirty="0" err="1">
                <a:latin typeface="페이퍼로지 6 SemiBold" pitchFamily="2" charset="-127"/>
                <a:ea typeface="페이퍼로지 6 SemiBold" pitchFamily="2" charset="-127"/>
              </a:rPr>
              <a:t>t</a:t>
            </a:r>
            <a:r>
              <a:rPr lang="ko-KR" altLang="ko-KR" sz="2200" dirty="0">
                <a:latin typeface="페이퍼로지 6 SemiBold" pitchFamily="2" charset="-127"/>
                <a:ea typeface="페이퍼로지 6 SemiBold" pitchFamily="2" charset="-127"/>
              </a:rPr>
              <a:t>) = [</a:t>
            </a:r>
            <a:r>
              <a:rPr lang="ko-KR" altLang="ko-KR" sz="2200" dirty="0" err="1">
                <a:latin typeface="페이퍼로지 6 SemiBold" pitchFamily="2" charset="-127"/>
                <a:ea typeface="페이퍼로지 6 SemiBold" pitchFamily="2" charset="-127"/>
              </a:rPr>
              <a:t>미금역</a:t>
            </a:r>
            <a:r>
              <a:rPr lang="ko-KR" altLang="en-US" sz="2200" dirty="0" err="1">
                <a:latin typeface="페이퍼로지 6 SemiBold" pitchFamily="2" charset="-127"/>
                <a:ea typeface="페이퍼로지 6 SemiBold" pitchFamily="2" charset="-127"/>
              </a:rPr>
              <a:t>사거리</a:t>
            </a:r>
            <a:r>
              <a:rPr lang="ko-KR" altLang="ko-KR" sz="2200" dirty="0">
                <a:latin typeface="페이퍼로지 6 SemiBold" pitchFamily="2" charset="-127"/>
                <a:ea typeface="페이퍼로지 6 SemiBold" pitchFamily="2" charset="-127"/>
              </a:rPr>
              <a:t> 남측</a:t>
            </a:r>
            <a:r>
              <a:rPr lang="ko-KR" altLang="en-US" sz="2200" dirty="0">
                <a:latin typeface="페이퍼로지 6 SemiBold" pitchFamily="2" charset="-127"/>
                <a:ea typeface="페이퍼로지 6 SemiBold" pitchFamily="2" charset="-127"/>
              </a:rPr>
              <a:t>으</a:t>
            </a:r>
            <a:r>
              <a:rPr lang="ko-KR" altLang="ko-KR" sz="2200" dirty="0">
                <a:latin typeface="페이퍼로지 6 SemiBold" pitchFamily="2" charset="-127"/>
                <a:ea typeface="페이퍼로지 6 SemiBold" pitchFamily="2" charset="-127"/>
              </a:rPr>
              <a:t>로 진출한 교통량 합] − [</a:t>
            </a:r>
            <a:r>
              <a:rPr lang="ko-KR" altLang="ko-KR" sz="2200" dirty="0" err="1">
                <a:latin typeface="페이퍼로지 6 SemiBold" pitchFamily="2" charset="-127"/>
                <a:ea typeface="페이퍼로지 6 SemiBold" pitchFamily="2" charset="-127"/>
              </a:rPr>
              <a:t>동막교</a:t>
            </a:r>
            <a:r>
              <a:rPr lang="ko-KR" altLang="en-US" sz="2200" dirty="0" err="1">
                <a:latin typeface="페이퍼로지 6 SemiBold" pitchFamily="2" charset="-127"/>
                <a:ea typeface="페이퍼로지 6 SemiBold" pitchFamily="2" charset="-127"/>
              </a:rPr>
              <a:t>사거리</a:t>
            </a:r>
            <a:r>
              <a:rPr lang="ko-KR" altLang="ko-KR" sz="2200" dirty="0">
                <a:latin typeface="페이퍼로지 6 SemiBold" pitchFamily="2" charset="-127"/>
                <a:ea typeface="페이퍼로지 6 SemiBold" pitchFamily="2" charset="-127"/>
              </a:rPr>
              <a:t> 북측 접근로로 진입한 교통량 합]※ 각 항은 </a:t>
            </a:r>
            <a:r>
              <a:rPr lang="ko-KR" altLang="ko-KR" sz="2200" dirty="0" err="1">
                <a:latin typeface="페이퍼로지 6 SemiBold" pitchFamily="2" charset="-127"/>
                <a:ea typeface="페이퍼로지 6 SemiBold" pitchFamily="2" charset="-127"/>
              </a:rPr>
              <a:t>직진·좌회전·우회전·유턴</a:t>
            </a:r>
            <a:r>
              <a:rPr lang="ko-KR" altLang="ko-KR" sz="2200" dirty="0">
                <a:latin typeface="페이퍼로지 6 SemiBold" pitchFamily="2" charset="-127"/>
                <a:ea typeface="페이퍼로지 6 SemiBold" pitchFamily="2" charset="-127"/>
              </a:rPr>
              <a:t> 4개 이동류를 합산. 양수 = 유출, 음수 = 유입</a:t>
            </a:r>
            <a:endParaRPr lang="ko-KR" altLang="en-US" sz="2200" dirty="0">
              <a:latin typeface="페이퍼로지 6 SemiBold" pitchFamily="2" charset="-127"/>
              <a:ea typeface="페이퍼로지 6 SemiBold" pitchFamily="2" charset="-127"/>
            </a:endParaRPr>
          </a:p>
        </p:txBody>
      </p:sp>
      <p:sp>
        <p:nvSpPr>
          <p:cNvPr id="11" name="TextBox 10">
            <a:extLst>
              <a:ext uri="{FF2B5EF4-FFF2-40B4-BE49-F238E27FC236}">
                <a16:creationId xmlns:a16="http://schemas.microsoft.com/office/drawing/2014/main" id="{7788766D-6CBA-2BF5-3732-126C318B62DB}"/>
              </a:ext>
            </a:extLst>
          </p:cNvPr>
          <p:cNvSpPr txBox="1"/>
          <p:nvPr/>
        </p:nvSpPr>
        <p:spPr>
          <a:xfrm>
            <a:off x="15266747" y="34535503"/>
            <a:ext cx="13618110" cy="2246769"/>
          </a:xfrm>
          <a:prstGeom prst="rect">
            <a:avLst/>
          </a:prstGeom>
          <a:noFill/>
        </p:spPr>
        <p:txBody>
          <a:bodyPr wrap="square" rtlCol="0">
            <a:spAutoFit/>
          </a:bodyPr>
          <a:lstStyle/>
          <a:p>
            <a:pPr marL="342900" indent="-342900">
              <a:buFont typeface="Arial" panose="020B0604020202020204" pitchFamily="34" charset="0"/>
              <a:buChar char="•"/>
            </a:pPr>
            <a:r>
              <a:rPr lang="ko-KR" altLang="ko-KR" sz="2000" dirty="0">
                <a:latin typeface="페이퍼로지 6 SemiBold" pitchFamily="2" charset="-127"/>
                <a:ea typeface="페이퍼로지 6 SemiBold" pitchFamily="2" charset="-127"/>
              </a:rPr>
              <a:t>데이터 품질 진단 4단계를 거쳐 사용 가능 시각을 확정한 뒤, 평일 출퇴근 6시간만을 대상으로 </a:t>
            </a:r>
            <a:r>
              <a:rPr lang="ko-KR" altLang="ko-KR" sz="2000" dirty="0" err="1">
                <a:latin typeface="페이퍼로지 6 SemiBold" pitchFamily="2" charset="-127"/>
                <a:ea typeface="페이퍼로지 6 SemiBold" pitchFamily="2" charset="-127"/>
              </a:rPr>
              <a:t>학습·평가했다</a:t>
            </a:r>
            <a:r>
              <a:rPr lang="ko-KR" altLang="ko-KR" sz="2000" dirty="0">
                <a:latin typeface="페이퍼로지 6 SemiBold" pitchFamily="2" charset="-127"/>
                <a:ea typeface="페이퍼로지 6 SemiBold" pitchFamily="2" charset="-127"/>
              </a:rPr>
              <a:t>. 학습은 2024년까지, 평가는 2025년으로 시간 순서를 지켜 분할했다.</a:t>
            </a:r>
          </a:p>
          <a:p>
            <a:pPr marL="342900" indent="-342900">
              <a:buFont typeface="Arial" panose="020B0604020202020204" pitchFamily="34" charset="0"/>
              <a:buChar char="•"/>
            </a:pPr>
            <a:r>
              <a:rPr lang="ko-KR" altLang="ko-KR" sz="2000" dirty="0">
                <a:latin typeface="페이퍼로지 6 SemiBold" pitchFamily="2" charset="-127"/>
                <a:ea typeface="페이퍼로지 6 SemiBold" pitchFamily="2" charset="-127"/>
              </a:rPr>
              <a:t>동일한 모델을 평일 24시간 전체로 채점했을 때와 출퇴근 6시간만 채점했을 때를 비교하면, 남행 R²가 0.674에서 0.384로 떨어지고 </a:t>
            </a:r>
            <a:r>
              <a:rPr lang="ko-KR" altLang="ko-KR" sz="2000" dirty="0" err="1">
                <a:latin typeface="페이퍼로지 6 SemiBold" pitchFamily="2" charset="-127"/>
                <a:ea typeface="페이퍼로지 6 SemiBold" pitchFamily="2" charset="-127"/>
              </a:rPr>
              <a:t>MAE는</a:t>
            </a:r>
            <a:r>
              <a:rPr lang="ko-KR" altLang="ko-KR" sz="2000" dirty="0">
                <a:latin typeface="페이퍼로지 6 SemiBold" pitchFamily="2" charset="-127"/>
                <a:ea typeface="페이퍼로지 6 SemiBold" pitchFamily="2" charset="-127"/>
              </a:rPr>
              <a:t> 64% 증가한다. 변화가 거의 없는 </a:t>
            </a:r>
            <a:r>
              <a:rPr lang="ko-KR" altLang="ko-KR" sz="2000" dirty="0" err="1">
                <a:latin typeface="페이퍼로지 6 SemiBold" pitchFamily="2" charset="-127"/>
                <a:ea typeface="페이퍼로지 6 SemiBold" pitchFamily="2" charset="-127"/>
              </a:rPr>
              <a:t>새벽·낮</a:t>
            </a:r>
            <a:r>
              <a:rPr lang="ko-KR" altLang="ko-KR" sz="2000" dirty="0">
                <a:latin typeface="페이퍼로지 6 SemiBold" pitchFamily="2" charset="-127"/>
                <a:ea typeface="페이퍼로지 6 SemiBold" pitchFamily="2" charset="-127"/>
              </a:rPr>
              <a:t> 18시간이 어려운 출퇴근 6시간의 성적을 가리고 있었기 때문이다.</a:t>
            </a:r>
          </a:p>
          <a:p>
            <a:pPr marL="342900" indent="-342900">
              <a:buFont typeface="Arial" panose="020B0604020202020204" pitchFamily="34" charset="0"/>
              <a:buChar char="•"/>
            </a:pPr>
            <a:r>
              <a:rPr lang="ko-KR" altLang="ko-KR" sz="2000" dirty="0">
                <a:latin typeface="페이퍼로지 6 SemiBold" pitchFamily="2" charset="-127"/>
                <a:ea typeface="페이퍼로지 6 SemiBold" pitchFamily="2" charset="-127"/>
              </a:rPr>
              <a:t>시간대별 </a:t>
            </a:r>
            <a:r>
              <a:rPr lang="ko-KR" altLang="ko-KR" sz="2000" dirty="0" err="1">
                <a:latin typeface="페이퍼로지 6 SemiBold" pitchFamily="2" charset="-127"/>
                <a:ea typeface="페이퍼로지 6 SemiBold" pitchFamily="2" charset="-127"/>
              </a:rPr>
              <a:t>Loss</a:t>
            </a:r>
            <a:r>
              <a:rPr lang="ko-KR" altLang="ko-KR" sz="2000" dirty="0">
                <a:latin typeface="페이퍼로지 6 SemiBold" pitchFamily="2" charset="-127"/>
                <a:ea typeface="페이퍼로지 6 SemiBold" pitchFamily="2" charset="-127"/>
              </a:rPr>
              <a:t> 분포를 보면 부호가 시간대가 아니라 방향에 고정되어 있다. 북행은 출퇴근 모두 유출(양수), 남행은 모두 유입(음수)이다. 통상적인 주거지 통행이라면 아침에 합류하고 저녁에 이탈해 부호가 뒤집혀야 하므로, 이는 해당 구간 고유의 통행 특성으로 판단된다.</a:t>
            </a:r>
          </a:p>
        </p:txBody>
      </p:sp>
      <p:pic>
        <p:nvPicPr>
          <p:cNvPr id="14" name="그림 13">
            <a:extLst>
              <a:ext uri="{FF2B5EF4-FFF2-40B4-BE49-F238E27FC236}">
                <a16:creationId xmlns:a16="http://schemas.microsoft.com/office/drawing/2014/main" id="{DA7EFFD3-1E5A-4D92-B5D6-49A43CC85F6D}"/>
              </a:ext>
            </a:extLst>
          </p:cNvPr>
          <p:cNvPicPr>
            <a:picLocks noChangeAspect="1"/>
          </p:cNvPicPr>
          <p:nvPr/>
        </p:nvPicPr>
        <p:blipFill>
          <a:blip r:embed="rId12"/>
          <a:stretch>
            <a:fillRect/>
          </a:stretch>
        </p:blipFill>
        <p:spPr>
          <a:xfrm>
            <a:off x="15204857" y="29539830"/>
            <a:ext cx="5594330" cy="4469369"/>
          </a:xfrm>
          <a:prstGeom prst="rect">
            <a:avLst/>
          </a:prstGeom>
        </p:spPr>
      </p:pic>
    </p:spTree>
    <p:extLst>
      <p:ext uri="{BB962C8B-B14F-4D97-AF65-F5344CB8AC3E}">
        <p14:creationId xmlns:p14="http://schemas.microsoft.com/office/powerpoint/2010/main" val="160734416"/>
      </p:ext>
    </p:extLst>
  </p:cSld>
  <p:clrMapOvr>
    <a:masterClrMapping/>
  </p:clrMapOvr>
</p:sld>
</file>

<file path=ppt/theme/theme1.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971</TotalTime>
  <Words>890</Words>
  <Application>Microsoft Office PowerPoint</Application>
  <PresentationFormat>사용자 지정</PresentationFormat>
  <Paragraphs>79</Paragraphs>
  <Slides>1</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vt:i4>
      </vt:variant>
    </vt:vector>
  </HeadingPairs>
  <TitlesOfParts>
    <vt:vector size="8" baseType="lpstr">
      <vt:lpstr>맑은 고딕</vt:lpstr>
      <vt:lpstr>페이퍼로지 5 Medium</vt:lpstr>
      <vt:lpstr>페이퍼로지 6 SemiBold</vt:lpstr>
      <vt:lpstr>페이퍼로지 7 Bold</vt:lpstr>
      <vt:lpstr>페이퍼로지 9 Black</vt:lpstr>
      <vt:lpstr>Arial</vt:lpstr>
      <vt:lpstr>1_Office 테마</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유수경</dc:creator>
  <cp:lastModifiedBy>준형 박</cp:lastModifiedBy>
  <cp:revision>68</cp:revision>
  <dcterms:created xsi:type="dcterms:W3CDTF">2021-11-16T01:50:53Z</dcterms:created>
  <dcterms:modified xsi:type="dcterms:W3CDTF">2026-08-28T05:38:54Z</dcterms:modified>
</cp:coreProperties>
</file>